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B4CEC0-A748-427F-32BB-7ACE435BF92D}" v="7" dt="2026-07-03T06:25:01.9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5/10/relationships/revisionInfo" Target="revisionInfo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0" y="0"/>
            <a:ext cx="109728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6240" y="250371"/>
            <a:ext cx="347472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 u="none">
                <a:solidFill>
                  <a:srgbClr val="FFFFFF"/>
                </a:solidFill>
                <a:latin typeface="Aptos"/>
              </a:rPr>
              <a:t>Virtual Agent
Self-Service &amp; Incident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6530" y="2928983"/>
            <a:ext cx="35661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>
                <a:solidFill>
                  <a:srgbClr val="FFFFFF"/>
                </a:solidFill>
              </a:rPr>
              <a:t>Presented by: Karteek Tadimalla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703320"/>
            <a:ext cx="3154680" cy="384048"/>
          </a:xfrm>
          <a:prstGeom prst="roundRect">
            <a:avLst>
              <a:gd name="adj" fmla="val 30000"/>
            </a:avLst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3749040"/>
            <a:ext cx="283464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20" b="1" u="none">
                <a:solidFill>
                  <a:srgbClr val="FFFFFF"/>
                </a:solidFill>
                <a:latin typeface="Aptos"/>
              </a:rPr>
              <a:t>Knowledge-Based Self-Service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233672"/>
            <a:ext cx="3154680" cy="384048"/>
          </a:xfrm>
          <a:prstGeom prst="roundRect">
            <a:avLst>
              <a:gd name="adj" fmla="val 30000"/>
            </a:avLst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4279392"/>
            <a:ext cx="283464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20" b="1" u="none">
                <a:solidFill>
                  <a:srgbClr val="FFFFFF"/>
                </a:solidFill>
                <a:latin typeface="Aptos"/>
              </a:rPr>
              <a:t>Automated Incident Creation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764024"/>
            <a:ext cx="3154680" cy="384048"/>
          </a:xfrm>
          <a:prstGeom prst="roundRect">
            <a:avLst>
              <a:gd name="adj" fmla="val 30000"/>
            </a:avLst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4809744"/>
            <a:ext cx="283464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20" b="1" u="none">
                <a:solidFill>
                  <a:srgbClr val="FFFFFF"/>
                </a:solidFill>
                <a:latin typeface="Aptos"/>
              </a:rPr>
              <a:t>Reduced Manual Effort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294375"/>
            <a:ext cx="3154680" cy="384048"/>
          </a:xfrm>
          <a:prstGeom prst="roundRect">
            <a:avLst>
              <a:gd name="adj" fmla="val 30000"/>
            </a:avLst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5340095"/>
            <a:ext cx="283464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20" b="1" u="none">
                <a:solidFill>
                  <a:srgbClr val="FFFFFF"/>
                </a:solidFill>
                <a:latin typeface="Aptos"/>
              </a:rPr>
              <a:t>Improved User Experience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640080"/>
            <a:ext cx="6400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 u="none">
                <a:solidFill>
                  <a:srgbClr val="FFFFFF"/>
                </a:solidFill>
                <a:latin typeface="Aptos"/>
              </a:rPr>
              <a:t>Executive 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8928" y="1024128"/>
            <a:ext cx="6400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50" b="0" u="none">
                <a:solidFill>
                  <a:srgbClr val="FFFFFF"/>
                </a:solidFill>
                <a:latin typeface="Aptos"/>
              </a:rPr>
              <a:t>A conversational IT support journey that helps employees resolve standard issues first and automatically logs incidents only when self-service does not solve the problem.</a:t>
            </a:r>
          </a:p>
        </p:txBody>
      </p:sp>
      <p:sp>
        <p:nvSpPr>
          <p:cNvPr id="17" name="Oval 16"/>
          <p:cNvSpPr/>
          <p:nvPr/>
        </p:nvSpPr>
        <p:spPr>
          <a:xfrm>
            <a:off x="5349240" y="1920240"/>
            <a:ext cx="685800" cy="6858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49240" y="1947672"/>
            <a:ext cx="685800" cy="6309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257800" y="2697480"/>
            <a:ext cx="868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50" b="0" u="none">
                <a:solidFill>
                  <a:srgbClr val="FFFFFF"/>
                </a:solidFill>
                <a:latin typeface="Aptos"/>
              </a:rPr>
              <a:t>Employee
Issue</a:t>
            </a:r>
          </a:p>
        </p:txBody>
      </p:sp>
      <p:sp>
        <p:nvSpPr>
          <p:cNvPr id="21" name="Oval 20"/>
          <p:cNvSpPr/>
          <p:nvPr/>
        </p:nvSpPr>
        <p:spPr>
          <a:xfrm>
            <a:off x="6629400" y="1920240"/>
            <a:ext cx="685800" cy="6858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29400" y="1947672"/>
            <a:ext cx="685800" cy="6309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37960" y="2697480"/>
            <a:ext cx="868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50" b="0" u="none">
                <a:solidFill>
                  <a:srgbClr val="FFFFFF"/>
                </a:solidFill>
                <a:latin typeface="Aptos"/>
              </a:rPr>
              <a:t>Virtual
Agent</a:t>
            </a:r>
          </a:p>
        </p:txBody>
      </p:sp>
      <p:sp>
        <p:nvSpPr>
          <p:cNvPr id="25" name="Oval 24"/>
          <p:cNvSpPr/>
          <p:nvPr/>
        </p:nvSpPr>
        <p:spPr>
          <a:xfrm>
            <a:off x="7909560" y="1920240"/>
            <a:ext cx="685800" cy="6858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09560" y="1947672"/>
            <a:ext cx="685800" cy="6309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818120" y="2697480"/>
            <a:ext cx="868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50" b="0" u="none">
                <a:solidFill>
                  <a:srgbClr val="FFFFFF"/>
                </a:solidFill>
                <a:latin typeface="Aptos"/>
              </a:rPr>
              <a:t>Knowledge
Articles</a:t>
            </a:r>
          </a:p>
        </p:txBody>
      </p:sp>
      <p:sp>
        <p:nvSpPr>
          <p:cNvPr id="29" name="Oval 28"/>
          <p:cNvSpPr/>
          <p:nvPr/>
        </p:nvSpPr>
        <p:spPr>
          <a:xfrm>
            <a:off x="9189720" y="1920240"/>
            <a:ext cx="685800" cy="6858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89720" y="1947672"/>
            <a:ext cx="685800" cy="6309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098280" y="2697480"/>
            <a:ext cx="868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50" b="0" u="none">
                <a:solidFill>
                  <a:srgbClr val="FFFFFF"/>
                </a:solidFill>
                <a:latin typeface="Aptos"/>
              </a:rPr>
              <a:t>Incident
Logging</a:t>
            </a:r>
          </a:p>
        </p:txBody>
      </p:sp>
      <p:sp>
        <p:nvSpPr>
          <p:cNvPr id="33" name="Oval 32"/>
          <p:cNvSpPr/>
          <p:nvPr/>
        </p:nvSpPr>
        <p:spPr>
          <a:xfrm>
            <a:off x="10469880" y="1920240"/>
            <a:ext cx="685800" cy="6858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469880" y="1947672"/>
            <a:ext cx="685800" cy="6309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0378440" y="2697480"/>
            <a:ext cx="868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50" b="0" u="none">
                <a:solidFill>
                  <a:srgbClr val="FFFFFF"/>
                </a:solidFill>
                <a:latin typeface="Aptos"/>
              </a:rPr>
              <a:t>Support
Action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66360" y="3383280"/>
            <a:ext cx="621792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5349240" y="3511296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349240" y="3538728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97880" y="3474720"/>
            <a:ext cx="192024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 u="none">
                <a:solidFill>
                  <a:srgbClr val="FFFFFF"/>
                </a:solidFill>
                <a:latin typeface="Aptos"/>
              </a:rPr>
              <a:t>Self-Service First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97880" y="3694176"/>
            <a:ext cx="525780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FFFFFF"/>
                </a:solidFill>
                <a:latin typeface="Aptos"/>
              </a:rPr>
              <a:t>Employees get guided support in a single chat interface instead of navigating multiple portals and forms.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166360" y="4297680"/>
            <a:ext cx="621792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5349240" y="4425696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349240" y="4453128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97880" y="4389120"/>
            <a:ext cx="192024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 u="none">
                <a:solidFill>
                  <a:srgbClr val="FFFFFF"/>
                </a:solidFill>
                <a:latin typeface="Aptos"/>
              </a:rPr>
              <a:t>Controlled Escalation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97880" y="4608576"/>
            <a:ext cx="525780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FFFFFF"/>
                </a:solidFill>
                <a:latin typeface="Aptos"/>
              </a:rPr>
              <a:t>Unresolved requests move into standardized incident logging with assignment, tracking, and notifications.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166360" y="5212080"/>
            <a:ext cx="621792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5349240" y="5340096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349240" y="5367528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97880" y="5303520"/>
            <a:ext cx="192024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 u="none">
                <a:solidFill>
                  <a:srgbClr val="FFFFFF"/>
                </a:solidFill>
                <a:latin typeface="Aptos"/>
              </a:rPr>
              <a:t>Operational Efficiency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97880" y="5522976"/>
            <a:ext cx="525780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FFFFFF"/>
                </a:solidFill>
                <a:latin typeface="Aptos"/>
              </a:rPr>
              <a:t>Reduced manual handoffs and consistent process steps improve turnaround time and service experience.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66360" y="2578608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rPr>
                <a:solidFill>
                  <a:srgbClr val="FFFFFF"/>
                </a:solidFill>
              </a:rPr>
              <a:t>USR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46520" y="2578608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rPr>
                <a:solidFill>
                  <a:srgbClr val="FFFFFF"/>
                </a:solidFill>
              </a:rPr>
              <a:t>VA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26680" y="2578608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rPr>
                <a:solidFill>
                  <a:srgbClr val="FFFFFF"/>
                </a:solidFill>
              </a:rPr>
              <a:t>KB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06840" y="2578608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rPr>
                <a:solidFill>
                  <a:srgbClr val="FFFFFF"/>
                </a:solidFill>
              </a:rPr>
              <a:t>INC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87000" y="2578608"/>
            <a:ext cx="1051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rPr>
                <a:solidFill>
                  <a:srgbClr val="FFFFFF"/>
                </a:solidFill>
              </a:rPr>
              <a:t>IT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0" y="6492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Karteek Tadimalla |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22860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 u="none">
                <a:solidFill>
                  <a:srgbClr val="FFFFFF"/>
                </a:solidFill>
                <a:latin typeface="Aptos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828800"/>
            <a:ext cx="23774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The Cost of Manual IT Support</a:t>
            </a:r>
          </a:p>
        </p:txBody>
      </p:sp>
      <p:sp>
        <p:nvSpPr>
          <p:cNvPr id="5" name="Oval 4"/>
          <p:cNvSpPr/>
          <p:nvPr/>
        </p:nvSpPr>
        <p:spPr>
          <a:xfrm>
            <a:off x="2331720" y="347472"/>
            <a:ext cx="438912" cy="4389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386584" y="393192"/>
            <a:ext cx="329184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5F249F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743200"/>
            <a:ext cx="21945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 u="none">
                <a:solidFill>
                  <a:srgbClr val="D7CDF0"/>
                </a:solidFill>
                <a:latin typeface="Aptos"/>
              </a:rPr>
              <a:t>KEY DRIVERS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3154680"/>
            <a:ext cx="329184" cy="32918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3182112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 u="none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82112"/>
            <a:ext cx="201168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Average cost per IT help desk ticket resolved manually: $22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" y="3813048"/>
            <a:ext cx="329184" cy="32918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3840480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 u="none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840480"/>
            <a:ext cx="201168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Rise in ticket volumes since 2020: +16%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502920"/>
            <a:ext cx="45720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100" b="1" u="none">
                <a:solidFill>
                  <a:srgbClr val="1E1E2F"/>
                </a:solidFill>
                <a:latin typeface="Aptos"/>
              </a:rPr>
              <a:t>Current Employee Challenges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9000" y="1005840"/>
            <a:ext cx="3977639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593592" y="1170432"/>
            <a:ext cx="457200" cy="4572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593592" y="1197864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78808" y="1152144"/>
            <a:ext cx="3063239" cy="274320"/>
          </a:xfrm>
          <a:prstGeom prst="rect">
            <a:avLst/>
          </a:prstGeom>
          <a:solidFill>
            <a:srgbClr val="FFFFFF"/>
          </a:solidFill>
        </p:spPr>
        <p:txBody>
          <a:bodyPr wrap="square" lIns="45720" rIns="45720">
            <a:spAutoFit/>
          </a:bodyPr>
          <a:lstStyle/>
          <a:p>
            <a:pPr algn="l"/>
            <a:r>
              <a:rPr sz="1800" b="1" u="none">
                <a:solidFill>
                  <a:srgbClr val="404040"/>
                </a:solidFill>
                <a:latin typeface="Aptos"/>
              </a:rPr>
              <a:t>Pain Points Observed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93322" y="1565220"/>
            <a:ext cx="3215639" cy="207723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u="none"/>
              <a:t>Without self-service, every IT issue — no matter how routine — lands on a human agent, driving up cost and wait times.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0" y="100584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754112" y="1170432"/>
            <a:ext cx="457200" cy="4572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54112" y="1197864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$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8" y="1152144"/>
            <a:ext cx="2743200" cy="274320"/>
          </a:xfrm>
          <a:prstGeom prst="rect">
            <a:avLst/>
          </a:prstGeom>
          <a:solidFill>
            <a:srgbClr val="FFFFFF"/>
          </a:solidFill>
        </p:spPr>
        <p:txBody>
          <a:bodyPr wrap="square" lIns="45720" rIns="45720">
            <a:spAutoFit/>
          </a:bodyPr>
          <a:lstStyle/>
          <a:p>
            <a:pPr algn="l"/>
            <a:r>
              <a:rPr sz="1800" b="1" u="none">
                <a:solidFill>
                  <a:srgbClr val="404040"/>
                </a:solidFill>
                <a:latin typeface="Aptos"/>
              </a:rPr>
              <a:t>Business Need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8" y="1536192"/>
            <a:ext cx="2743200" cy="11521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u="none"/>
              <a:t>Result: long queues, frustrated employees, agent burnout, and untracked incidents.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94314" y="3339011"/>
            <a:ext cx="7818120" cy="2606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75888" y="3273552"/>
            <a:ext cx="32004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 u="none">
                <a:solidFill>
                  <a:srgbClr val="1E1E2F"/>
                </a:solidFill>
                <a:latin typeface="Aptos"/>
              </a:rPr>
              <a:t>Proposed Solution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75888" y="3584448"/>
            <a:ext cx="722376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AI-powered Virtual Agent (Now Assist) on ServiceNow Zurich enforcing standardized incident creation path.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6492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Karteek Tadimalla |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 u="none">
                <a:solidFill>
                  <a:srgbClr val="1E1E2F"/>
                </a:solidFill>
                <a:latin typeface="Aptos"/>
              </a:rPr>
              <a:t>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332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Clean three-layer architecture — all native to ServiceNow Zurich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234440"/>
            <a:ext cx="4389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 u="none">
                <a:solidFill>
                  <a:srgbClr val="1E1E2F"/>
                </a:solidFill>
                <a:latin typeface="Aptos"/>
              </a:rPr>
              <a:t>Design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536192"/>
            <a:ext cx="10515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All layers reside natively on the Now Platform with zero external integration required.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48840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5F24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2148840"/>
            <a:ext cx="1645920" cy="10058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109728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Employee Interface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2148840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011680" y="2148840"/>
            <a:ext cx="1645920" cy="10058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45920" y="2331720"/>
            <a:ext cx="109728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Virtual Agent Chat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2148840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5F24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0" y="2148840"/>
            <a:ext cx="1645920" cy="10058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34640" y="2331720"/>
            <a:ext cx="109728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Employee Portal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2148840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A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89120" y="2148840"/>
            <a:ext cx="1645920" cy="10058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023360" y="2331720"/>
            <a:ext cx="109728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AI Orchestration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23560" y="2148840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5F24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623560" y="2148840"/>
            <a:ext cx="1645920" cy="10058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12080" y="2331720"/>
            <a:ext cx="109728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Custom AI Agent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23560" y="3749039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623560" y="3749039"/>
            <a:ext cx="1645920" cy="10058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12080" y="3931919"/>
            <a:ext cx="109728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KB Lookup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749039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5F24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89120" y="3749039"/>
            <a:ext cx="1645920" cy="10058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023360" y="3931919"/>
            <a:ext cx="109728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ITSM Automation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00400" y="3749039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A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200400" y="3749039"/>
            <a:ext cx="1645920" cy="10058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834640" y="3931919"/>
            <a:ext cx="109728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Auto-Assignment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011680" y="3749039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011680" y="3749039"/>
            <a:ext cx="1645920" cy="10058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645920" y="3931919"/>
            <a:ext cx="109728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Notifications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3749039"/>
            <a:ext cx="164592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5F24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22960" y="3749039"/>
            <a:ext cx="1645920" cy="10058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3931919"/>
            <a:ext cx="1097280" cy="31089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20" b="1" u="none">
                <a:solidFill>
                  <a:srgbClr val="1E1E2F"/>
                </a:solidFill>
                <a:latin typeface="Aptos"/>
              </a:rPr>
              <a:t>Employee Confirmation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26679" y="1965960"/>
            <a:ext cx="3657600" cy="2514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7891271" y="2130552"/>
            <a:ext cx="457200" cy="4572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891271" y="2157984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76487" y="1655064"/>
            <a:ext cx="2743200" cy="274320"/>
          </a:xfrm>
          <a:prstGeom prst="rect">
            <a:avLst/>
          </a:prstGeom>
          <a:solidFill>
            <a:srgbClr val="FFFFFF"/>
          </a:solidFill>
        </p:spPr>
        <p:txBody>
          <a:bodyPr wrap="square" lIns="45720" rIns="45720">
            <a:spAutoFit/>
          </a:bodyPr>
          <a:lstStyle/>
          <a:p>
            <a:pPr algn="l"/>
            <a:r>
              <a:rPr sz="1800" b="1" u="none">
                <a:solidFill>
                  <a:srgbClr val="404040"/>
                </a:solidFill>
                <a:latin typeface="Aptos"/>
              </a:rPr>
              <a:t>Architecture Notes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76487" y="2496312"/>
            <a:ext cx="2743200" cy="18379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u="none"/>
              <a:t>Virtual Agent Chat is the primary access point.</a:t>
            </a:r>
          </a:p>
          <a:p>
            <a:r>
              <a:rPr u="none"/>
              <a:t>Now Assist and Custom AI Agent orchestrate intent and KB lookup.</a:t>
            </a:r>
          </a:p>
          <a:p>
            <a:r>
              <a:rPr u="none"/>
              <a:t>Record Producer ensures standardized data capture.</a:t>
            </a:r>
          </a:p>
          <a:p>
            <a:r>
              <a:rPr u="none"/>
              <a:t>Assignment and Notifications are fully automated via ServiceNow native flows.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18120" y="4919472"/>
            <a:ext cx="164592" cy="16459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065008" y="4873752"/>
            <a:ext cx="18288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u="none">
                <a:solidFill>
                  <a:srgbClr val="5C6170"/>
                </a:solidFill>
                <a:latin typeface="Aptos"/>
              </a:rPr>
              <a:t>User / Channel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18120" y="5193792"/>
            <a:ext cx="164592" cy="16459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065008" y="5148072"/>
            <a:ext cx="18288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u="none">
                <a:solidFill>
                  <a:srgbClr val="5C6170"/>
                </a:solidFill>
                <a:latin typeface="Aptos"/>
              </a:rPr>
              <a:t>Automation / Logic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18120" y="5468112"/>
            <a:ext cx="164592" cy="16459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065008" y="5422392"/>
            <a:ext cx="18288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 u="none">
                <a:solidFill>
                  <a:srgbClr val="5C6170"/>
                </a:solidFill>
                <a:latin typeface="Aptos"/>
              </a:rPr>
              <a:t>Decision / Support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28600" y="6099048"/>
            <a:ext cx="117500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1" u="none">
                <a:solidFill>
                  <a:srgbClr val="404040"/>
                </a:solidFill>
                <a:latin typeface="Aptos"/>
              </a:rPr>
              <a:t>Portal conversation  →  Knowledge guidance  →  Decisioning  →  Incident workflow  →  Resolution confirmation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0" y="6492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Karteek Tadimalla | Slide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 u="none">
                <a:solidFill>
                  <a:srgbClr val="1E1E2F"/>
                </a:solidFill>
                <a:latin typeface="Aptos"/>
              </a:rPr>
              <a:t>Components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332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Implementation Components on ServiceNow Zurich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2461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13232" y="1490472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517904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261872" y="1435608"/>
            <a:ext cx="23317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 u="none">
                <a:solidFill>
                  <a:srgbClr val="1E1E2F"/>
                </a:solidFill>
                <a:latin typeface="Aptos"/>
              </a:rPr>
              <a:t>Virtual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1673352"/>
            <a:ext cx="233172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Custom conversation flows covering top IT query categories.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325880"/>
            <a:ext cx="32461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325112" y="1490472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25112" y="1517904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873752" y="1435608"/>
            <a:ext cx="23317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 u="none">
                <a:solidFill>
                  <a:srgbClr val="1E1E2F"/>
                </a:solidFill>
                <a:latin typeface="Aptos"/>
              </a:rPr>
              <a:t>Knowledge 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3752" y="1673352"/>
            <a:ext cx="233172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Generative AI skills enabled for knowledge recommendation and intent resolution.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325880"/>
            <a:ext cx="32461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936992" y="1490472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36992" y="1517904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TP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1435608"/>
            <a:ext cx="23317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 u="none">
                <a:solidFill>
                  <a:srgbClr val="1E1E2F"/>
                </a:solidFill>
                <a:latin typeface="Aptos"/>
              </a:rPr>
              <a:t>Virtual Agent Topics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1673352"/>
            <a:ext cx="233172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Now Assist conversational UI and natural-language understanding.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743200"/>
            <a:ext cx="32461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13232" y="2907792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3232" y="2935224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FD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61872" y="2852928"/>
            <a:ext cx="23317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 u="none">
                <a:solidFill>
                  <a:srgbClr val="1E1E2F"/>
                </a:solidFill>
                <a:latin typeface="Aptos"/>
              </a:rPr>
              <a:t>Flow Designer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1872" y="3090672"/>
            <a:ext cx="233172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Business rule logic enforces 'Create Incident - Accenture Support' record producer.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60520" y="2743200"/>
            <a:ext cx="32461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325112" y="2907792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25112" y="2935224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73752" y="2852928"/>
            <a:ext cx="23317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 u="none">
                <a:solidFill>
                  <a:srgbClr val="1E1E2F"/>
                </a:solidFill>
                <a:latin typeface="Aptos"/>
              </a:rPr>
              <a:t>Incident Table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3752" y="3090672"/>
            <a:ext cx="233172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All AI-routed incidents land here; zero manual triage required.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0" y="2743200"/>
            <a:ext cx="32461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936992" y="2907792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936992" y="2935224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85632" y="2852928"/>
            <a:ext cx="23317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 u="none">
                <a:solidFill>
                  <a:srgbClr val="1E1E2F"/>
                </a:solidFill>
                <a:latin typeface="Aptos"/>
              </a:rPr>
              <a:t>Catalog Item / Request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85632" y="3090672"/>
            <a:ext cx="233172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Custom catalog item enforced via AI Agent policy to standardize data.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160520"/>
            <a:ext cx="32461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713232" y="4325112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3232" y="4352544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61872" y="4270248"/>
            <a:ext cx="23317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 u="none">
                <a:solidFill>
                  <a:srgbClr val="1E1E2F"/>
                </a:solidFill>
                <a:latin typeface="Aptos"/>
              </a:rPr>
              <a:t>Client Script / Validation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61872" y="4507992"/>
            <a:ext cx="233172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 u="none">
                <a:solidFill>
                  <a:srgbClr val="5C6170"/>
                </a:solidFill>
                <a:latin typeface="Aptos"/>
              </a:rPr>
              <a:t>Improves form behavior and validates user input where interactive forms are used.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60520" y="4160520"/>
            <a:ext cx="32461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4325112" y="4325112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325112" y="4352544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SI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73752" y="4270248"/>
            <a:ext cx="23317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 u="none">
                <a:solidFill>
                  <a:srgbClr val="1E1E2F"/>
                </a:solidFill>
                <a:latin typeface="Aptos"/>
              </a:rPr>
              <a:t>Script Include / Logic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73752" y="4507992"/>
            <a:ext cx="233172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Automated group assignment rule targeting 'ACCENTURE IT SUPPORT'.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0" y="4160520"/>
            <a:ext cx="32461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7936992" y="4325112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936992" y="4352544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85632" y="4270248"/>
            <a:ext cx="23317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50" b="1" u="none">
                <a:solidFill>
                  <a:srgbClr val="1E1E2F"/>
                </a:solidFill>
                <a:latin typeface="Aptos"/>
              </a:rPr>
              <a:t>Notifications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85632" y="4507992"/>
            <a:ext cx="2331720" cy="5120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Event-driven notifications for support team and automated closure notification.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352" y="1901952"/>
            <a:ext cx="8046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VA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42232" y="1901952"/>
            <a:ext cx="8046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KB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0" y="6492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Karteek Tadimalla | Slide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22860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 u="none">
                <a:solidFill>
                  <a:srgbClr val="FFFFFF"/>
                </a:solidFill>
                <a:latin typeface="Aptos"/>
              </a:rPr>
              <a:t>Process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828800"/>
            <a:ext cx="23774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End-to-End Process Flow from query to closed ticket</a:t>
            </a:r>
          </a:p>
        </p:txBody>
      </p:sp>
      <p:sp>
        <p:nvSpPr>
          <p:cNvPr id="5" name="Oval 4"/>
          <p:cNvSpPr/>
          <p:nvPr/>
        </p:nvSpPr>
        <p:spPr>
          <a:xfrm>
            <a:off x="2331720" y="347472"/>
            <a:ext cx="438912" cy="4389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386584" y="393192"/>
            <a:ext cx="329184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5F249F"/>
                </a:solidFill>
                <a:latin typeface="Aptos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20240"/>
            <a:ext cx="233172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 u="none">
                <a:solidFill>
                  <a:srgbClr val="D7CDF0"/>
                </a:solidFill>
                <a:latin typeface="Aptos"/>
              </a:rPr>
              <a:t>KEY PRINCIPLES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2331720"/>
            <a:ext cx="329184" cy="32918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2359152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u="none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359152"/>
            <a:ext cx="201168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40" b="0" u="none">
                <a:solidFill>
                  <a:srgbClr val="FFFFFF"/>
                </a:solidFill>
                <a:latin typeface="Aptos"/>
              </a:rPr>
              <a:t>No helpdesk call required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" y="3063239"/>
            <a:ext cx="329184" cy="32918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3090671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u="none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090671"/>
            <a:ext cx="201168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40" b="0" u="none">
                <a:solidFill>
                  <a:srgbClr val="FFFFFF"/>
                </a:solidFill>
                <a:latin typeface="Aptos"/>
              </a:rPr>
              <a:t>No manual ticket creation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" y="3794760"/>
            <a:ext cx="329184" cy="32918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3822192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u="none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3822192"/>
            <a:ext cx="201168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40" b="0" u="none">
                <a:solidFill>
                  <a:srgbClr val="FFFFFF"/>
                </a:solidFill>
                <a:latin typeface="Aptos"/>
              </a:rPr>
              <a:t>No system navigation</a:t>
            </a:r>
          </a:p>
        </p:txBody>
      </p:sp>
      <p:sp>
        <p:nvSpPr>
          <p:cNvPr id="17" name="Oval 16"/>
          <p:cNvSpPr/>
          <p:nvPr/>
        </p:nvSpPr>
        <p:spPr>
          <a:xfrm>
            <a:off x="411480" y="4526280"/>
            <a:ext cx="329184" cy="32918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4553712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u="none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4553712"/>
            <a:ext cx="201168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40" b="0" u="none">
                <a:solidFill>
                  <a:srgbClr val="FFFFFF"/>
                </a:solidFill>
                <a:latin typeface="Aptos"/>
              </a:rPr>
              <a:t>No technical knowledge required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475488"/>
            <a:ext cx="365760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 u="none">
                <a:solidFill>
                  <a:srgbClr val="1E1E2F"/>
                </a:solidFill>
                <a:latin typeface="Aptos"/>
              </a:rPr>
              <a:t>Process Flow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01568" y="1051560"/>
            <a:ext cx="8138160" cy="7680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566160" y="1216152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566160" y="1243584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u="none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96512" y="1161288"/>
            <a:ext cx="726948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u="none">
                <a:solidFill>
                  <a:srgbClr val="1E1E2F"/>
                </a:solidFill>
                <a:latin typeface="Aptos"/>
              </a:rPr>
              <a:t>Employee Describes Issue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96512" y="1435608"/>
            <a:ext cx="726948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Employee starts conversation with Virtual Agent (Now Assist)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01568" y="2039112"/>
            <a:ext cx="8138160" cy="7680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566160" y="2203704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566160" y="2231136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u="none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96512" y="2148840"/>
            <a:ext cx="726948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u="none">
                <a:solidFill>
                  <a:srgbClr val="1E1E2F"/>
                </a:solidFill>
                <a:latin typeface="Aptos"/>
              </a:rPr>
              <a:t>Virtual Agent Understands Request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96512" y="2423160"/>
            <a:ext cx="726948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AI Agent searches Knowledge Base, presents relevant articles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01568" y="3026664"/>
            <a:ext cx="8138160" cy="7680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566160" y="3191256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566160" y="3218688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u="none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96512" y="3136392"/>
            <a:ext cx="726948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u="none">
                <a:solidFill>
                  <a:srgbClr val="1E1E2F"/>
                </a:solidFill>
                <a:latin typeface="Aptos"/>
              </a:rPr>
              <a:t>Knowledge Articles Are Suggested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96512" y="3410712"/>
            <a:ext cx="726948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AI Agent prompts employee to raise an incident if unresolved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01568" y="4014216"/>
            <a:ext cx="8138160" cy="7680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566160" y="4178808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566160" y="4206240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u="none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96512" y="4123944"/>
            <a:ext cx="726948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u="none">
                <a:solidFill>
                  <a:srgbClr val="1E1E2F"/>
                </a:solidFill>
                <a:latin typeface="Aptos"/>
              </a:rPr>
              <a:t>Resolution Check &amp; Escalation Decision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96512" y="4398264"/>
            <a:ext cx="726948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Record created automatically via 'Create Incident - Accenture Support'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01568" y="5001768"/>
            <a:ext cx="8138160" cy="7680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3566160" y="5166360"/>
            <a:ext cx="438912" cy="438912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566160" y="5193792"/>
            <a:ext cx="438912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u="none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96512" y="5111496"/>
            <a:ext cx="726948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u="none">
                <a:solidFill>
                  <a:srgbClr val="1E1E2F"/>
                </a:solidFill>
                <a:latin typeface="Aptos"/>
              </a:rPr>
              <a:t>Incident Is Logged, Assigned, and Tracked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96512" y="5385816"/>
            <a:ext cx="726948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Incident auto-assigned to ACCENTURE IT SUPPORT; Team and Employee notified.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29584" y="6208776"/>
            <a:ext cx="7891272" cy="14630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40" b="1" u="none">
                <a:solidFill>
                  <a:srgbClr val="FFFFFF"/>
                </a:solidFill>
                <a:latin typeface="Aptos"/>
              </a:rPr>
              <a:t>Seamless end-to-end journey: portal entry → self-service guidance → automated ticketing → support follow-through → closure visibility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6492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Karteek Tadimalla | Slide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 u="none">
                <a:solidFill>
                  <a:srgbClr val="1E1E2F"/>
                </a:solidFill>
                <a:latin typeface="Aptos"/>
              </a:rPr>
              <a:t>Benefits &amp; Business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332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Measurable gains in speed, consistency, and employee experience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474720" cy="4069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3474720" cy="16459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58952" y="1664208"/>
            <a:ext cx="512064" cy="51206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691640"/>
            <a:ext cx="51206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80744" y="1691640"/>
            <a:ext cx="24688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 u="none">
                <a:solidFill>
                  <a:srgbClr val="1E1E2F"/>
                </a:solidFill>
                <a:latin typeface="Aptos"/>
              </a:rPr>
              <a:t>Employee Benefits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40280"/>
            <a:ext cx="2834640" cy="2560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u="none"/>
              <a:t>24/7 Self-Service Availability.</a:t>
            </a:r>
          </a:p>
          <a:p>
            <a:r>
              <a:rPr u="none"/>
              <a:t>Employees raise incidents and access knowledge at any hour.</a:t>
            </a:r>
          </a:p>
          <a:p>
            <a:r>
              <a:rPr u="none"/>
              <a:t>No dependency on business hours or agent availability.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937760"/>
            <a:ext cx="2880360" cy="384048"/>
          </a:xfrm>
          <a:prstGeom prst="roundRect">
            <a:avLst>
              <a:gd name="adj" fmla="val 25000"/>
            </a:avLst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1832" y="4983480"/>
            <a:ext cx="273405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Instant 24/7 Support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417320"/>
            <a:ext cx="3474720" cy="4069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34840" y="1417320"/>
            <a:ext cx="3474720" cy="16459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599432" y="1664208"/>
            <a:ext cx="512064" cy="51206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99432" y="1691640"/>
            <a:ext cx="51206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221224" y="1691640"/>
            <a:ext cx="24688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 u="none">
                <a:solidFill>
                  <a:srgbClr val="1E1E2F"/>
                </a:solidFill>
                <a:latin typeface="Aptos"/>
              </a:rPr>
              <a:t>IT Support Benefits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2240280"/>
            <a:ext cx="2834640" cy="2560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u="none"/>
              <a:t>100% Standardized Incident Creation.</a:t>
            </a:r>
          </a:p>
          <a:p>
            <a:r>
              <a:rPr u="none"/>
              <a:t>Zero Manual Triage Required.</a:t>
            </a:r>
          </a:p>
          <a:p>
            <a:r>
              <a:rPr u="none"/>
              <a:t>All AI-routed incidents are auto-assigned to ACCENTURE IT SUPPORT.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4937760"/>
            <a:ext cx="2880360" cy="384048"/>
          </a:xfrm>
          <a:prstGeom prst="roundRect">
            <a:avLst>
              <a:gd name="adj" fmla="val 25000"/>
            </a:avLst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82312" y="4983480"/>
            <a:ext cx="273405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Zero-Touch Routing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1417320"/>
            <a:ext cx="3474720" cy="4069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75320" y="1417320"/>
            <a:ext cx="3474720" cy="16459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439912" y="1664208"/>
            <a:ext cx="512064" cy="51206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39912" y="1691640"/>
            <a:ext cx="51206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061704" y="1691640"/>
            <a:ext cx="24688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 u="none">
                <a:solidFill>
                  <a:srgbClr val="1E1E2F"/>
                </a:solidFill>
                <a:latin typeface="Aptos"/>
              </a:rPr>
              <a:t>Organizational Value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2240280"/>
            <a:ext cx="2834640" cy="2560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u="none"/>
              <a:t>Real-Time Support Team Notifications.</a:t>
            </a:r>
          </a:p>
          <a:p>
            <a:r>
              <a:rPr u="none"/>
              <a:t>Event-driven notification on incident creation.</a:t>
            </a:r>
          </a:p>
          <a:p>
            <a:r>
              <a:rPr u="none"/>
              <a:t>Reduced manual assignment overhead — agents now focus on resolution.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49640" y="4937760"/>
            <a:ext cx="2880360" cy="384048"/>
          </a:xfrm>
          <a:prstGeom prst="roundRect">
            <a:avLst>
              <a:gd name="adj" fmla="val 25000"/>
            </a:avLst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22792" y="4983480"/>
            <a:ext cx="273405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Scalable Automation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5806440"/>
            <a:ext cx="256032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 u="none">
                <a:solidFill>
                  <a:srgbClr val="1E1E2F"/>
                </a:solidFill>
                <a:latin typeface="Aptos"/>
              </a:rPr>
              <a:t>Value Chain Summary</a:t>
            </a:r>
          </a:p>
        </p:txBody>
      </p:sp>
      <p:sp>
        <p:nvSpPr>
          <p:cNvPr id="30" name="Oval 29"/>
          <p:cNvSpPr/>
          <p:nvPr/>
        </p:nvSpPr>
        <p:spPr>
          <a:xfrm>
            <a:off x="2651760" y="5724144"/>
            <a:ext cx="329184" cy="32918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651760" y="5751576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 u="none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35808" y="5715000"/>
            <a:ext cx="13716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30" b="0" u="none">
                <a:solidFill>
                  <a:srgbClr val="5C6170"/>
                </a:solidFill>
                <a:latin typeface="Aptos"/>
              </a:rPr>
              <a:t>Guided issue intake</a:t>
            </a:r>
          </a:p>
        </p:txBody>
      </p:sp>
      <p:sp>
        <p:nvSpPr>
          <p:cNvPr id="33" name="Oval 32"/>
          <p:cNvSpPr/>
          <p:nvPr/>
        </p:nvSpPr>
        <p:spPr>
          <a:xfrm>
            <a:off x="4480560" y="5724144"/>
            <a:ext cx="329184" cy="32918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480560" y="5751576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 u="none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64608" y="5715000"/>
            <a:ext cx="13716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30" b="0" u="none">
                <a:solidFill>
                  <a:srgbClr val="5C6170"/>
                </a:solidFill>
                <a:latin typeface="Aptos"/>
              </a:rPr>
              <a:t>Immediate self-service</a:t>
            </a:r>
          </a:p>
        </p:txBody>
      </p:sp>
      <p:sp>
        <p:nvSpPr>
          <p:cNvPr id="36" name="Oval 35"/>
          <p:cNvSpPr/>
          <p:nvPr/>
        </p:nvSpPr>
        <p:spPr>
          <a:xfrm>
            <a:off x="6309360" y="5724144"/>
            <a:ext cx="329184" cy="32918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09360" y="5751576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 u="none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93408" y="5715000"/>
            <a:ext cx="13716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30" b="0" u="none">
                <a:solidFill>
                  <a:srgbClr val="5C6170"/>
                </a:solidFill>
                <a:latin typeface="Aptos"/>
              </a:rPr>
              <a:t>Governed escalation</a:t>
            </a:r>
          </a:p>
        </p:txBody>
      </p:sp>
      <p:sp>
        <p:nvSpPr>
          <p:cNvPr id="39" name="Oval 38"/>
          <p:cNvSpPr/>
          <p:nvPr/>
        </p:nvSpPr>
        <p:spPr>
          <a:xfrm>
            <a:off x="8138160" y="5724144"/>
            <a:ext cx="329184" cy="32918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138160" y="5751576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 u="none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22208" y="5715000"/>
            <a:ext cx="13716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30" b="0" u="none">
                <a:solidFill>
                  <a:srgbClr val="5C6170"/>
                </a:solidFill>
                <a:latin typeface="Aptos"/>
              </a:rPr>
              <a:t>Ticket visibility</a:t>
            </a:r>
          </a:p>
        </p:txBody>
      </p:sp>
      <p:sp>
        <p:nvSpPr>
          <p:cNvPr id="42" name="Oval 41"/>
          <p:cNvSpPr/>
          <p:nvPr/>
        </p:nvSpPr>
        <p:spPr>
          <a:xfrm>
            <a:off x="9966960" y="5724144"/>
            <a:ext cx="329184" cy="32918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966960" y="5751576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 u="none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51008" y="5715000"/>
            <a:ext cx="13716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30" b="0" u="none">
                <a:solidFill>
                  <a:srgbClr val="5C6170"/>
                </a:solidFill>
                <a:latin typeface="Aptos"/>
              </a:rPr>
              <a:t>Improved service experience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6072" y="2148840"/>
            <a:ext cx="8778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EMP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16552" y="2148840"/>
            <a:ext cx="8778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IT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57032" y="2148840"/>
            <a:ext cx="87782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ORG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6492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Karteek Tadimalla | Slide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 u="none">
                <a:solidFill>
                  <a:srgbClr val="1E1E2F"/>
                </a:solidFill>
                <a:latin typeface="Aptos"/>
              </a:rPr>
              <a:t>Representative Use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332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Live Demo Scenario: VPN Troubleshooting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516636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86968" y="1664208"/>
            <a:ext cx="512064" cy="51206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691640"/>
            <a:ext cx="51206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627632"/>
            <a:ext cx="4023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Initiate Chat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965960"/>
            <a:ext cx="406908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Ananya opens the Employee Portal and starts a chat with the Virtual Agent.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08760" y="2816352"/>
            <a:ext cx="2011680" cy="384048"/>
          </a:xfrm>
          <a:prstGeom prst="roundRect">
            <a:avLst>
              <a:gd name="adj" fmla="val 25000"/>
            </a:avLst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81912" y="2862072"/>
            <a:ext cx="186537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Guided Assistance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63040"/>
            <a:ext cx="516636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64808" y="1664208"/>
            <a:ext cx="512064" cy="51206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4808" y="1691640"/>
            <a:ext cx="51206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1627632"/>
            <a:ext cx="4023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AI Assistance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1965960"/>
            <a:ext cx="406908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Now Assist understands intent and surfaces the top 3 VPN troubleshooting KB articles.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2816352"/>
            <a:ext cx="2011680" cy="384048"/>
          </a:xfrm>
          <a:prstGeom prst="roundRect">
            <a:avLst>
              <a:gd name="adj" fmla="val 25000"/>
            </a:avLst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59752" y="2862072"/>
            <a:ext cx="186537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Automated Ticketing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703320"/>
            <a:ext cx="516636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86968" y="3904488"/>
            <a:ext cx="512064" cy="51206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968" y="3931920"/>
            <a:ext cx="51206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3867912"/>
            <a:ext cx="4023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Incident Creation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206240"/>
            <a:ext cx="406908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Issue not resolved — Custom AI Agent creates incident via 'Create Incident - Accenture Support'.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08760" y="5056632"/>
            <a:ext cx="2011680" cy="384048"/>
          </a:xfrm>
          <a:prstGeom prst="roundRect">
            <a:avLst>
              <a:gd name="adj" fmla="val 25000"/>
            </a:avLst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581912" y="5102352"/>
            <a:ext cx="186537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Knowledge Deflection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703320"/>
            <a:ext cx="516636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464808" y="3904488"/>
            <a:ext cx="512064" cy="51206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64808" y="3931920"/>
            <a:ext cx="51206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3867912"/>
            <a:ext cx="40233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Resolution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4206240"/>
            <a:ext cx="4069080" cy="960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Ticket auto-assigned; Engineer resolves VPN issue; Ananya receives automated closure notification.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86600" y="5056632"/>
            <a:ext cx="2011680" cy="384048"/>
          </a:xfrm>
          <a:prstGeom prst="roundRect">
            <a:avLst>
              <a:gd name="adj" fmla="val 25000"/>
            </a:avLst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159752" y="5102352"/>
            <a:ext cx="186537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Seamless Follow-up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92040" y="5715000"/>
            <a:ext cx="242316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10912" y="5843016"/>
            <a:ext cx="2194560" cy="14630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50" b="0" u="none">
                <a:solidFill>
                  <a:srgbClr val="5C6170"/>
                </a:solidFill>
                <a:latin typeface="Aptos"/>
              </a:rPr>
              <a:t>All scenarios keep the user in one guided conversational flow.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6492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Karteek Tadimalla | Slide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 u="none">
                <a:solidFill>
                  <a:srgbClr val="1E1E2F"/>
                </a:solidFill>
                <a:latin typeface="Aptos"/>
              </a:rPr>
              <a:t>Challenges, Limitations &amp; 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332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Future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81328"/>
            <a:ext cx="3401568" cy="4480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" y="1737360"/>
            <a:ext cx="512064" cy="51206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51206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 u="none">
                <a:solidFill>
                  <a:srgbClr val="FFFFFF"/>
                </a:solidFill>
                <a:latin typeface="Aptos"/>
              </a:rPr>
              <a:t>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783080"/>
            <a:ext cx="22860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Phase 2: Expanded Knowledge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304288"/>
            <a:ext cx="2788920" cy="2926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u="none"/>
              <a:t>Broaden knowledge base coverage; enable multi-turn diagnostic conversations for complex IT issues.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1832" y="5413248"/>
            <a:ext cx="2697480" cy="384048"/>
          </a:xfrm>
          <a:prstGeom prst="roundRect">
            <a:avLst>
              <a:gd name="adj" fmla="val 25000"/>
            </a:avLst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14984" y="5458968"/>
            <a:ext cx="255117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Wider Reach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07992" y="1481328"/>
            <a:ext cx="3401568" cy="4480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690872" y="1737360"/>
            <a:ext cx="512064" cy="51206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90872" y="1764792"/>
            <a:ext cx="51206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 u="none">
                <a:solidFill>
                  <a:srgbClr val="FFFFFF"/>
                </a:solidFill>
                <a:latin typeface="Aptos"/>
              </a:rPr>
              <a:t>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85232" y="1783080"/>
            <a:ext cx="22860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Phase 3: HR &amp; Facilities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4024" y="2304288"/>
            <a:ext cx="2788920" cy="2926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u="none"/>
              <a:t>Extend Virtual Agent beyond IT to HR and Facilities use cases — all on the same ServiceNow platform.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64024" y="5413248"/>
            <a:ext cx="2697480" cy="384048"/>
          </a:xfrm>
          <a:prstGeom prst="roundRect">
            <a:avLst>
              <a:gd name="adj" fmla="val 25000"/>
            </a:avLst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37176" y="5458968"/>
            <a:ext cx="255117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Cross-Domain Support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30183" y="1481328"/>
            <a:ext cx="3401568" cy="4480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513063" y="1737360"/>
            <a:ext cx="512064" cy="51206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13063" y="1764792"/>
            <a:ext cx="512064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1" u="none">
                <a:solidFill>
                  <a:srgbClr val="FFFFFF"/>
                </a:solidFill>
                <a:latin typeface="Aptos"/>
              </a:rPr>
              <a:t>FX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3" y="1783080"/>
            <a:ext cx="22860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Phase 4: Agentic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86215" y="2304288"/>
            <a:ext cx="2788920" cy="2926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u="none"/>
              <a:t>Autonomous Tier 1 incident resolution with no human intervention, leveraging ServiceNow's evolving AI agent capabilities.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86215" y="5413248"/>
            <a:ext cx="2697480" cy="384048"/>
          </a:xfrm>
          <a:prstGeom prst="roundRect">
            <a:avLst>
              <a:gd name="adj" fmla="val 25000"/>
            </a:avLst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59367" y="5458968"/>
            <a:ext cx="2551176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t>Autonomous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6492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Karteek Tadimalla | Slide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 u="none">
                <a:solidFill>
                  <a:srgbClr val="1E1E2F"/>
                </a:solidFill>
                <a:latin typeface="Aptos"/>
              </a:rPr>
              <a:t>Testing &amp; Execution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3327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u="none">
                <a:solidFill>
                  <a:srgbClr val="5C6170"/>
                </a:solidFill>
                <a:latin typeface="Aptos"/>
              </a:rPr>
              <a:t>Validation of the end-to-end conversation and incident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28346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481328"/>
            <a:ext cx="201168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u="none">
                <a:solidFill>
                  <a:srgbClr val="1E1E2F"/>
                </a:solidFill>
                <a:latin typeface="Aptos"/>
              </a:rPr>
              <a:t>Preconditions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23317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40" u="none">
                <a:solidFill>
                  <a:srgbClr val="5C6170"/>
                </a:solidFill>
                <a:latin typeface="Aptos"/>
              </a:rPr>
              <a:t>User is logged into the ServiceNow portal.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40" u="none">
                <a:solidFill>
                  <a:srgbClr val="5C6170"/>
                </a:solidFill>
                <a:latin typeface="Aptos"/>
              </a:rPr>
              <a:t>Virtual Agent is enabled and available.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128016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87968" y="1481328"/>
            <a:ext cx="21031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u="none">
                <a:solidFill>
                  <a:srgbClr val="1E1E2F"/>
                </a:solidFill>
                <a:latin typeface="Aptos"/>
              </a:rPr>
              <a:t>Success Criteria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87968" y="1783080"/>
            <a:ext cx="23317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40" u="none">
                <a:solidFill>
                  <a:srgbClr val="5C6170"/>
                </a:solidFill>
                <a:latin typeface="Aptos"/>
              </a:rPr>
              <a:t>The complete flow executes successfully.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40" u="none">
                <a:solidFill>
                  <a:srgbClr val="5C6170"/>
                </a:solidFill>
                <a:latin typeface="Aptos"/>
              </a:rPr>
              <a:t>Incident is traceable in the incident table.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502920" cy="475488"/>
          </a:xfrm>
          <a:prstGeom prst="rect">
            <a:avLst/>
          </a:prstGeom>
          <a:solidFill>
            <a:srgbClr val="A100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2587752"/>
            <a:ext cx="448056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50" b="1" u="none">
                <a:solidFill>
                  <a:srgbClr val="FFFFFF"/>
                </a:solidFill>
                <a:latin typeface="Aptos"/>
              </a:rPr>
              <a:t>#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2514600"/>
            <a:ext cx="3154680" cy="475488"/>
          </a:xfrm>
          <a:prstGeom prst="rect">
            <a:avLst/>
          </a:prstGeom>
          <a:solidFill>
            <a:srgbClr val="A100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16152" y="2587752"/>
            <a:ext cx="3099816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50" b="1" u="none">
                <a:solidFill>
                  <a:srgbClr val="FFFFFF"/>
                </a:solidFill>
                <a:latin typeface="Aptos"/>
              </a:rPr>
              <a:t>Step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2514600"/>
            <a:ext cx="2423160" cy="475488"/>
          </a:xfrm>
          <a:prstGeom prst="rect">
            <a:avLst/>
          </a:prstGeom>
          <a:solidFill>
            <a:srgbClr val="A100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70832" y="2587752"/>
            <a:ext cx="2368296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50" b="1" u="none">
                <a:solidFill>
                  <a:srgbClr val="FFFFFF"/>
                </a:solidFill>
                <a:latin typeface="Aptos"/>
              </a:rPr>
              <a:t>Action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2514600"/>
            <a:ext cx="5394960" cy="475488"/>
          </a:xfrm>
          <a:prstGeom prst="rect">
            <a:avLst/>
          </a:prstGeom>
          <a:solidFill>
            <a:srgbClr val="A100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93992" y="2587752"/>
            <a:ext cx="5340096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50" b="1" u="none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2990088"/>
            <a:ext cx="5029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3063240"/>
            <a:ext cx="4114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80" b="0" u="none">
                <a:solidFill>
                  <a:srgbClr val="1E1E2F"/>
                </a:solidFill>
                <a:latin typeface="Aptos"/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88720" y="2990088"/>
            <a:ext cx="31546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34440" y="3063240"/>
            <a:ext cx="30632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1E1E2F"/>
                </a:solidFill>
                <a:latin typeface="Aptos"/>
              </a:rPr>
              <a:t>Access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2990088"/>
            <a:ext cx="24231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89120" y="3063240"/>
            <a:ext cx="23317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Login as employee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2990088"/>
            <a:ext cx="53949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12280" y="3063240"/>
            <a:ext cx="53035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User authenticated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3465576"/>
            <a:ext cx="50292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3538728"/>
            <a:ext cx="4114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80" b="0" u="none">
                <a:solidFill>
                  <a:srgbClr val="1E1E2F"/>
                </a:solidFill>
                <a:latin typeface="Aptos"/>
              </a:rP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88720" y="3465576"/>
            <a:ext cx="315468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234440" y="3538728"/>
            <a:ext cx="30632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1E1E2F"/>
                </a:solidFill>
                <a:latin typeface="Aptos"/>
              </a:rPr>
              <a:t>Launch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465576"/>
            <a:ext cx="242316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89120" y="3538728"/>
            <a:ext cx="23317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Open Virtual Agent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66560" y="3465576"/>
            <a:ext cx="539496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12280" y="3538728"/>
            <a:ext cx="53035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Chat window launches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" y="3941064"/>
            <a:ext cx="5029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4014216"/>
            <a:ext cx="4114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80" b="0" u="none">
                <a:solidFill>
                  <a:srgbClr val="1E1E2F"/>
                </a:solidFill>
                <a:latin typeface="Aptos"/>
              </a:rPr>
              <a:t>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88720" y="3941064"/>
            <a:ext cx="31546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234440" y="4014216"/>
            <a:ext cx="30632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1E1E2F"/>
                </a:solidFill>
                <a:latin typeface="Aptos"/>
              </a:rPr>
              <a:t>Describe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43400" y="3941064"/>
            <a:ext cx="24231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89120" y="4014216"/>
            <a:ext cx="23317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Enter issue description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66560" y="3941064"/>
            <a:ext cx="53949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812280" y="4014216"/>
            <a:ext cx="53035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Intent recognized or routed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" y="4416552"/>
            <a:ext cx="50292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31520" y="4489704"/>
            <a:ext cx="4114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80" b="0" u="none">
                <a:solidFill>
                  <a:srgbClr val="1E1E2F"/>
                </a:solidFill>
                <a:latin typeface="Aptos"/>
              </a:rPr>
              <a:t>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88720" y="4416552"/>
            <a:ext cx="315468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234440" y="4489704"/>
            <a:ext cx="30632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1E1E2F"/>
                </a:solidFill>
                <a:latin typeface="Aptos"/>
              </a:rPr>
              <a:t>Self-service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43400" y="4416552"/>
            <a:ext cx="242316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389120" y="4489704"/>
            <a:ext cx="23317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View KB suggestions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66560" y="4416552"/>
            <a:ext cx="539496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812280" y="4489704"/>
            <a:ext cx="53035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Relevant articles displayed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5800" y="4892040"/>
            <a:ext cx="5029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31520" y="4965192"/>
            <a:ext cx="4114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80" b="0" u="none">
                <a:solidFill>
                  <a:srgbClr val="1E1E2F"/>
                </a:solidFill>
                <a:latin typeface="Aptos"/>
              </a:rPr>
              <a:t>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88720" y="4892040"/>
            <a:ext cx="31546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234440" y="4965192"/>
            <a:ext cx="30632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1E1E2F"/>
                </a:solidFill>
                <a:latin typeface="Aptos"/>
              </a:rPr>
              <a:t>Decision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43400" y="4892040"/>
            <a:ext cx="24231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389120" y="4965192"/>
            <a:ext cx="23317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Select unable to resolve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66560" y="4892040"/>
            <a:ext cx="53949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812280" y="4965192"/>
            <a:ext cx="53035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Incident workflow triggered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85800" y="5367528"/>
            <a:ext cx="50292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31520" y="5440680"/>
            <a:ext cx="4114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80" b="0" u="none">
                <a:solidFill>
                  <a:srgbClr val="1E1E2F"/>
                </a:solidFill>
                <a:latin typeface="Aptos"/>
              </a:rPr>
              <a:t>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188720" y="5367528"/>
            <a:ext cx="315468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234440" y="5440680"/>
            <a:ext cx="30632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1E1E2F"/>
                </a:solidFill>
                <a:latin typeface="Aptos"/>
              </a:rPr>
              <a:t>Create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343400" y="5367528"/>
            <a:ext cx="242316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389120" y="5440680"/>
            <a:ext cx="23317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Incident generated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766560" y="5367528"/>
            <a:ext cx="539496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812280" y="5440680"/>
            <a:ext cx="53035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Incident number created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85800" y="5843016"/>
            <a:ext cx="5029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31520" y="5916168"/>
            <a:ext cx="4114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80" b="0" u="none">
                <a:solidFill>
                  <a:srgbClr val="1E1E2F"/>
                </a:solidFill>
                <a:latin typeface="Aptos"/>
              </a:rPr>
              <a:t>7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188720" y="5843016"/>
            <a:ext cx="31546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234440" y="5916168"/>
            <a:ext cx="30632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1E1E2F"/>
                </a:solidFill>
                <a:latin typeface="Aptos"/>
              </a:rPr>
              <a:t>Notify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343400" y="5843016"/>
            <a:ext cx="24231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389120" y="5916168"/>
            <a:ext cx="23317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Notification sent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766560" y="5843016"/>
            <a:ext cx="539496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812280" y="5916168"/>
            <a:ext cx="53035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User receives confirmation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85800" y="6318504"/>
            <a:ext cx="50292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731520" y="6391656"/>
            <a:ext cx="41148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80" b="0" u="none">
                <a:solidFill>
                  <a:srgbClr val="1E1E2F"/>
                </a:solidFill>
                <a:latin typeface="Aptos"/>
              </a:rPr>
              <a:t>8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188720" y="6318504"/>
            <a:ext cx="315468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234440" y="6391656"/>
            <a:ext cx="306324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1E1E2F"/>
                </a:solidFill>
                <a:latin typeface="Aptos"/>
              </a:rPr>
              <a:t>Verify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343400" y="6318504"/>
            <a:ext cx="242316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389120" y="6391656"/>
            <a:ext cx="23317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Check incident record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766560" y="6318504"/>
            <a:ext cx="5394960" cy="475488"/>
          </a:xfrm>
          <a:prstGeom prst="rect">
            <a:avLst/>
          </a:prstGeom>
          <a:solidFill>
            <a:srgbClr val="A100FF"/>
          </a:solidFill>
          <a:ln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812280" y="6391656"/>
            <a:ext cx="5303520" cy="1645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80" b="0" u="none">
                <a:solidFill>
                  <a:srgbClr val="5C6170"/>
                </a:solidFill>
                <a:latin typeface="Aptos"/>
              </a:rPr>
              <a:t>Incident visible in Incident Table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22960" y="6428232"/>
            <a:ext cx="10469880" cy="1097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980" b="0" u="none">
                <a:solidFill>
                  <a:srgbClr val="5C6170"/>
                </a:solidFill>
                <a:latin typeface="Aptos"/>
              </a:rPr>
              <a:t>Execution focus: validate user journey, KB display, incident creation, assignment visibility, and confirmation messaging in one integrated test.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58000" y="6492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Karteek Tadimalla | Slide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22860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>
                <a:solidFill>
                  <a:srgbClr val="FFFFFF"/>
                </a:solidFill>
              </a:rPr>
              <a:t>Final Achievements &amp; Conclusion</a:t>
            </a:r>
          </a:p>
        </p:txBody>
      </p:sp>
      <p:sp>
        <p:nvSpPr>
          <p:cNvPr id="5" name="Oval 4"/>
          <p:cNvSpPr/>
          <p:nvPr/>
        </p:nvSpPr>
        <p:spPr>
          <a:xfrm>
            <a:off x="2331720" y="347472"/>
            <a:ext cx="438912" cy="4389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386584" y="393192"/>
            <a:ext cx="329184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874519"/>
            <a:ext cx="22860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 u="none">
                <a:solidFill>
                  <a:srgbClr val="FFFFFF"/>
                </a:solidFill>
                <a:latin typeface="Aptos"/>
              </a:rPr>
              <a:t>IMPLEMENTED</a:t>
            </a:r>
          </a:p>
        </p:txBody>
      </p:sp>
      <p:sp>
        <p:nvSpPr>
          <p:cNvPr id="8" name="Oval 7"/>
          <p:cNvSpPr/>
          <p:nvPr/>
        </p:nvSpPr>
        <p:spPr>
          <a:xfrm>
            <a:off x="411480" y="2240280"/>
            <a:ext cx="310896" cy="310896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2267712"/>
            <a:ext cx="31089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258568"/>
            <a:ext cx="20574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20" b="0" u="none">
                <a:solidFill>
                  <a:srgbClr val="FFFFFF"/>
                </a:solidFill>
                <a:latin typeface="Aptos"/>
              </a:rPr>
              <a:t>Virtual Agent conversation flow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" y="2807208"/>
            <a:ext cx="310896" cy="310896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2834640"/>
            <a:ext cx="31089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825496"/>
            <a:ext cx="20574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20" b="0" u="none">
                <a:solidFill>
                  <a:srgbClr val="FFFFFF"/>
                </a:solidFill>
                <a:latin typeface="Aptos"/>
              </a:rPr>
              <a:t>Knowledge Base integration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" y="3374136"/>
            <a:ext cx="310896" cy="310896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3401568"/>
            <a:ext cx="31089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3392424"/>
            <a:ext cx="20574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20" b="0" u="none">
                <a:solidFill>
                  <a:srgbClr val="FFFFFF"/>
                </a:solidFill>
                <a:latin typeface="Aptos"/>
              </a:rPr>
              <a:t>Automated incident creation</a:t>
            </a:r>
          </a:p>
        </p:txBody>
      </p:sp>
      <p:sp>
        <p:nvSpPr>
          <p:cNvPr id="17" name="Oval 16"/>
          <p:cNvSpPr/>
          <p:nvPr/>
        </p:nvSpPr>
        <p:spPr>
          <a:xfrm>
            <a:off x="411480" y="3941064"/>
            <a:ext cx="310896" cy="310896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3968496"/>
            <a:ext cx="31089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3959352"/>
            <a:ext cx="20574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20" b="0" u="none">
                <a:solidFill>
                  <a:srgbClr val="FFFFFF"/>
                </a:solidFill>
                <a:latin typeface="Aptos"/>
              </a:rPr>
              <a:t>Assignment workflow</a:t>
            </a:r>
          </a:p>
        </p:txBody>
      </p:sp>
      <p:sp>
        <p:nvSpPr>
          <p:cNvPr id="20" name="Oval 19"/>
          <p:cNvSpPr/>
          <p:nvPr/>
        </p:nvSpPr>
        <p:spPr>
          <a:xfrm>
            <a:off x="411480" y="4507992"/>
            <a:ext cx="310896" cy="310896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4535424"/>
            <a:ext cx="31089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4526280"/>
            <a:ext cx="20574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20" b="0" u="none">
                <a:solidFill>
                  <a:srgbClr val="FFFFFF"/>
                </a:solidFill>
                <a:latin typeface="Aptos"/>
              </a:rPr>
              <a:t>Notification mechanism</a:t>
            </a:r>
          </a:p>
        </p:txBody>
      </p:sp>
      <p:sp>
        <p:nvSpPr>
          <p:cNvPr id="23" name="Oval 22"/>
          <p:cNvSpPr/>
          <p:nvPr/>
        </p:nvSpPr>
        <p:spPr>
          <a:xfrm>
            <a:off x="411480" y="5074920"/>
            <a:ext cx="310896" cy="310896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80" y="5102352"/>
            <a:ext cx="310896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" y="5093208"/>
            <a:ext cx="205740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20" b="0" u="none">
                <a:solidFill>
                  <a:srgbClr val="FFFFFF"/>
                </a:solidFill>
                <a:latin typeface="Aptos"/>
              </a:rPr>
              <a:t>End-to-end 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502920"/>
            <a:ext cx="5029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 u="none">
                <a:solidFill>
                  <a:srgbClr val="FFFFFF"/>
                </a:solidFill>
                <a:latin typeface="Aptos"/>
              </a:rPr>
              <a:t>Demo Outcome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9000" y="987552"/>
            <a:ext cx="370332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3593592" y="1152144"/>
            <a:ext cx="457200" cy="4572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593592" y="1179576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78808" y="1133856"/>
            <a:ext cx="27889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 u="none">
                <a:solidFill>
                  <a:srgbClr val="FFFFFF"/>
                </a:solidFill>
                <a:latin typeface="Aptos"/>
              </a:rPr>
              <a:t>What the Demo Showed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78808" y="1517904"/>
            <a:ext cx="2788920" cy="11521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 u="none">
                <a:solidFill>
                  <a:srgbClr val="FFFFFF"/>
                </a:solidFill>
                <a:latin typeface="Aptos"/>
              </a:rPr>
              <a:t>User issue captured successfully in the chat interface.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 u="none">
                <a:solidFill>
                  <a:srgbClr val="FFFFFF"/>
                </a:solidFill>
                <a:latin typeface="Aptos"/>
              </a:rPr>
              <a:t>Relevant knowledge content displayed for self-service troubleshooting.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 u="none">
                <a:solidFill>
                  <a:srgbClr val="FFFFFF"/>
                </a:solidFill>
                <a:latin typeface="Aptos"/>
              </a:rPr>
              <a:t>Incident was created automatically when the issue remained unresolved.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 u="none">
                <a:solidFill>
                  <a:srgbClr val="FFFFFF"/>
                </a:solidFill>
                <a:latin typeface="Aptos"/>
              </a:rPr>
              <a:t>User received a confirmation with the ticket reference.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96912" y="987552"/>
            <a:ext cx="3977639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7461504" y="1152144"/>
            <a:ext cx="457200" cy="4572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61504" y="1179576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1133856"/>
            <a:ext cx="3063239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 u="none">
                <a:solidFill>
                  <a:srgbClr val="FFFFFF"/>
                </a:solidFill>
                <a:latin typeface="Aptos"/>
              </a:rPr>
              <a:t>Operational Result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1517904"/>
            <a:ext cx="3063239" cy="11521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 u="none">
                <a:solidFill>
                  <a:srgbClr val="FFFFFF"/>
                </a:solidFill>
                <a:latin typeface="Aptos"/>
              </a:rPr>
              <a:t>Support workflow continued after automated incident creation.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 u="none">
                <a:solidFill>
                  <a:srgbClr val="FFFFFF"/>
                </a:solidFill>
                <a:latin typeface="Aptos"/>
              </a:rPr>
              <a:t>Assignment path provided a clear ownership route for follow-up.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 u="none">
                <a:solidFill>
                  <a:srgbClr val="FFFFFF"/>
                </a:solidFill>
                <a:latin typeface="Aptos"/>
              </a:rPr>
              <a:t>The solution reduced manual support effort in the intake stage.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 u="none">
                <a:solidFill>
                  <a:srgbClr val="FFFFFF"/>
                </a:solidFill>
                <a:latin typeface="Aptos"/>
              </a:rPr>
              <a:t>The overall experience remained simple from the user perspective.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29000" y="3063240"/>
            <a:ext cx="7882127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39312" y="3310128"/>
            <a:ext cx="731520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 u="none">
                <a:solidFill>
                  <a:srgbClr val="FFFFFF"/>
                </a:solidFill>
                <a:latin typeface="Aptos"/>
              </a:rPr>
              <a:t>Key Achievement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39312" y="3611880"/>
            <a:ext cx="726948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>
                <a:solidFill>
                  <a:srgbClr val="FFFFFF"/>
                </a:solidFill>
              </a:rPr>
              <a:t>Demonstrated 100% Standardized Incident Creation and Zero Manual Triage Required using Now Assist on ServiceNow Zurich.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29000" y="4315968"/>
            <a:ext cx="7882127" cy="15727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3593592" y="4480560"/>
            <a:ext cx="457200" cy="4572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593592" y="4507992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u="none">
                <a:solidFill>
                  <a:srgbClr val="FFFFFF"/>
                </a:solidFill>
                <a:latin typeface="Aptos"/>
              </a:rPr>
              <a:t>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78808" y="4462272"/>
            <a:ext cx="696772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 u="none">
                <a:solidFill>
                  <a:srgbClr val="FFFFFF"/>
                </a:solidFill>
                <a:latin typeface="Aptos"/>
              </a:rPr>
              <a:t>Why It Matters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78808" y="4846320"/>
            <a:ext cx="6967727" cy="89611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 u="none">
                <a:solidFill>
                  <a:srgbClr val="FFFFFF"/>
                </a:solidFill>
                <a:latin typeface="Aptos"/>
              </a:rPr>
              <a:t>Demonstrates a practical automation use case on the ServiceNow platform.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 u="none">
                <a:solidFill>
                  <a:srgbClr val="FFFFFF"/>
                </a:solidFill>
                <a:latin typeface="Aptos"/>
              </a:rPr>
              <a:t>Shows how self-service and incident governance can coexist in one journey.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400" u="none">
                <a:solidFill>
                  <a:srgbClr val="FFFFFF"/>
                </a:solidFill>
                <a:latin typeface="Aptos"/>
              </a:rPr>
              <a:t>Creates a foundation for future AI, search, and multi-channel expansion.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71600" y="59436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A100FF"/>
                </a:solidFill>
              </a:defRPr>
            </a:pPr>
            <a:r>
              <a:rPr u="none">
                <a:solidFill>
                  <a:srgbClr val="FFFFFF"/>
                </a:solidFill>
              </a:rPr>
              <a:t>Ready to accelerate your IT support transformation.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6492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Karteek Tadimalla | Slide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" name="Oval 13"/>
          <p:cNvSpPr/>
          <p:nvPr/>
        </p:nvSpPr>
        <p:spPr>
          <a:xfrm>
            <a:off x="411480" y="2185416"/>
            <a:ext cx="329184" cy="32918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2212848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 u="none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212848"/>
            <a:ext cx="201168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Employees attempt to self-serve first: 81%</a:t>
            </a:r>
          </a:p>
        </p:txBody>
      </p:sp>
      <p:sp>
        <p:nvSpPr>
          <p:cNvPr id="17" name="Oval 16"/>
          <p:cNvSpPr/>
          <p:nvPr/>
        </p:nvSpPr>
        <p:spPr>
          <a:xfrm>
            <a:off x="411480" y="2843784"/>
            <a:ext cx="329184" cy="329184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2871216"/>
            <a:ext cx="329184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 u="none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871216"/>
            <a:ext cx="2011680" cy="21945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Support teams are stretched thin and overwhelmed</a:t>
            </a:r>
          </a:p>
        </p:txBody>
      </p:sp>
      <p:sp>
        <p:nvSpPr>
          <p:cNvPr id="34" name="Oval 33"/>
          <p:cNvSpPr/>
          <p:nvPr/>
        </p:nvSpPr>
        <p:spPr>
          <a:xfrm>
            <a:off x="3675888" y="1965960"/>
            <a:ext cx="457200" cy="4572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75888" y="1993392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u="none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84448" y="2450592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80" b="1" u="none">
                <a:solidFill>
                  <a:srgbClr val="1E1E2F"/>
                </a:solidFill>
                <a:latin typeface="Aptos"/>
              </a:rPr>
              <a:t>Understand issue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38728" y="2724912"/>
            <a:ext cx="105156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Now Assist conversational interface for natural-language IT support queries.</a:t>
            </a:r>
          </a:p>
        </p:txBody>
      </p:sp>
      <p:sp>
        <p:nvSpPr>
          <p:cNvPr id="39" name="Oval 38"/>
          <p:cNvSpPr/>
          <p:nvPr/>
        </p:nvSpPr>
        <p:spPr>
          <a:xfrm>
            <a:off x="5157216" y="1965960"/>
            <a:ext cx="457200" cy="4572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157216" y="1993392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u="none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65776" y="2450592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80" b="1" u="none">
                <a:solidFill>
                  <a:srgbClr val="1E1E2F"/>
                </a:solidFill>
                <a:latin typeface="Aptos"/>
              </a:rPr>
              <a:t>Recommend KB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0056" y="2724912"/>
            <a:ext cx="105156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Instant KB article recommendations before incident creation.</a:t>
            </a:r>
          </a:p>
        </p:txBody>
      </p:sp>
      <p:sp>
        <p:nvSpPr>
          <p:cNvPr id="44" name="Oval 43"/>
          <p:cNvSpPr/>
          <p:nvPr/>
        </p:nvSpPr>
        <p:spPr>
          <a:xfrm>
            <a:off x="6638544" y="1965960"/>
            <a:ext cx="457200" cy="4572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638544" y="1993392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u="none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47104" y="2450592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80" b="1" u="none">
                <a:solidFill>
                  <a:srgbClr val="1E1E2F"/>
                </a:solidFill>
                <a:latin typeface="Aptos"/>
              </a:rPr>
              <a:t>Check resolution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01384" y="2724912"/>
            <a:ext cx="105156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Enforces use of 'Create Incident - Accenture Support' record producer.</a:t>
            </a:r>
          </a:p>
        </p:txBody>
      </p:sp>
      <p:sp>
        <p:nvSpPr>
          <p:cNvPr id="49" name="Oval 48"/>
          <p:cNvSpPr/>
          <p:nvPr/>
        </p:nvSpPr>
        <p:spPr>
          <a:xfrm>
            <a:off x="8119872" y="1965960"/>
            <a:ext cx="457200" cy="4572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119872" y="1993392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u="none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28432" y="2450592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80" b="1" u="none">
                <a:solidFill>
                  <a:srgbClr val="1E1E2F"/>
                </a:solidFill>
                <a:latin typeface="Aptos"/>
              </a:rPr>
              <a:t>Raise incident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82712" y="2724912"/>
            <a:ext cx="105156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Routes all incidents to 'ACCENTURE IT SUPPORT' group automatically.</a:t>
            </a:r>
          </a:p>
        </p:txBody>
      </p:sp>
      <p:sp>
        <p:nvSpPr>
          <p:cNvPr id="54" name="Oval 53"/>
          <p:cNvSpPr/>
          <p:nvPr/>
        </p:nvSpPr>
        <p:spPr>
          <a:xfrm>
            <a:off x="9601200" y="1965960"/>
            <a:ext cx="457200" cy="4572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601200" y="1993392"/>
            <a:ext cx="457200" cy="40233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u="none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09760" y="2450592"/>
            <a:ext cx="9601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80" b="1" u="none">
                <a:solidFill>
                  <a:srgbClr val="1E1E2F"/>
                </a:solidFill>
                <a:latin typeface="Aptos"/>
              </a:rPr>
              <a:t>Notify stakeholders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64040" y="2724912"/>
            <a:ext cx="1051560" cy="4754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u="none"/>
              <a:t>Real-time alerts to the support group and employee closure notification.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A100FF"/>
                </a:solidFill>
              </a:defRPr>
            </a:pPr>
            <a:r>
              <a:t>Proposed Solution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0" y="6492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04040"/>
                </a:solidFill>
              </a:defRPr>
            </a:pPr>
            <a:r>
              <a:t>Karteek Tadimalla | Slide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Tadimalla, Karteek</dc:creator>
  <cp:keywords/>
  <dc:description>generated using python-pptx</dc:description>
  <cp:lastModifiedBy>Tadimalla, Karteek</cp:lastModifiedBy>
  <cp:revision>10</cp:revision>
  <dcterms:created xsi:type="dcterms:W3CDTF">2026-07-03T06:18:25Z</dcterms:created>
  <dcterms:modified xsi:type="dcterms:W3CDTF">2026-07-03T07:00:01Z</dcterms:modified>
  <cp:category/>
</cp:coreProperties>
</file>