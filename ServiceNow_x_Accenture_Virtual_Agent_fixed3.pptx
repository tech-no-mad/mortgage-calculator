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B4CEC0-A748-427F-32BB-7ACE435BF92D}" v="7" dt="2026-07-03T06:25:01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10972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240" y="250371"/>
            <a:ext cx="34747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u="none">
                <a:solidFill>
                  <a:srgbClr val="FFFFFF"/>
                </a:solidFill>
                <a:latin typeface="Aptos"/>
              </a:rPr>
              <a:t>Virtual Agent
Self-Service &amp; Incident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530" y="2928983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>
                <a:solidFill>
                  <a:srgbClr val="FFFFFF"/>
                </a:solidFill>
              </a:rPr>
              <a:t>Presented by: Karteek Tadimalla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03320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3749040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Knowledge-Based Self-Service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33672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4279392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Automated Incident Creation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764024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4809744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Reduced Manual Effort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294375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5340095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Improved User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640080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FFFFFF"/>
                </a:solidFill>
                <a:latin typeface="Aptos"/>
              </a:rPr>
              <a:t>Executive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024128"/>
            <a:ext cx="6400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 u="none">
                <a:solidFill>
                  <a:srgbClr val="FFFFFF"/>
                </a:solidFill>
                <a:latin typeface="Aptos"/>
              </a:rPr>
              <a:t>A conversational IT support journey that helps employees resolve standard issues first and automatically logs incidents only when self-service does not solve the problem.</a:t>
            </a:r>
          </a:p>
        </p:txBody>
      </p:sp>
      <p:sp>
        <p:nvSpPr>
          <p:cNvPr id="17" name="Oval 16"/>
          <p:cNvSpPr/>
          <p:nvPr/>
        </p:nvSpPr>
        <p:spPr>
          <a:xfrm>
            <a:off x="534924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924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USR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Employee
Issue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Virtual
Agent</a:t>
            </a:r>
          </a:p>
        </p:txBody>
      </p:sp>
      <p:sp>
        <p:nvSpPr>
          <p:cNvPr id="25" name="Oval 24"/>
          <p:cNvSpPr/>
          <p:nvPr/>
        </p:nvSpPr>
        <p:spPr>
          <a:xfrm>
            <a:off x="790956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KB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Knowledge
Articles</a:t>
            </a:r>
          </a:p>
        </p:txBody>
      </p:sp>
      <p:sp>
        <p:nvSpPr>
          <p:cNvPr id="29" name="Oval 28"/>
          <p:cNvSpPr/>
          <p:nvPr/>
        </p:nvSpPr>
        <p:spPr>
          <a:xfrm>
            <a:off x="918972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8972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INC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Incident
Logging</a:t>
            </a:r>
          </a:p>
        </p:txBody>
      </p:sp>
      <p:sp>
        <p:nvSpPr>
          <p:cNvPr id="33" name="Oval 32"/>
          <p:cNvSpPr/>
          <p:nvPr/>
        </p:nvSpPr>
        <p:spPr>
          <a:xfrm>
            <a:off x="1046988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6988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Support
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66360" y="33832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349240" y="351129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49240" y="35387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34747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FFFFFF"/>
                </a:solidFill>
                <a:latin typeface="Aptos"/>
              </a:rPr>
              <a:t>Self-Service 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36941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FFFFFF"/>
                </a:solidFill>
                <a:latin typeface="Aptos"/>
              </a:rPr>
              <a:t>Employees get guided support in a single chat interface instead of navigating multiple portals and forms.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66360" y="42976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349240" y="442569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49240" y="44531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43891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FFFFFF"/>
                </a:solidFill>
                <a:latin typeface="Aptos"/>
              </a:rPr>
              <a:t>Controlled Escalation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46085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FFFFFF"/>
                </a:solidFill>
                <a:latin typeface="Aptos"/>
              </a:rPr>
              <a:t>Unresolved requests move into standardized incident logging with assignment, tracking, and notifications.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66360" y="52120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349240" y="534009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49240" y="53675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53035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FFFFFF"/>
                </a:solidFill>
                <a:latin typeface="Aptos"/>
              </a:rPr>
              <a:t>Operational Efficiency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55229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FFFFFF"/>
                </a:solidFill>
                <a:latin typeface="Aptos"/>
              </a:rPr>
              <a:t>Reduced manual handoffs and consistent process steps improve turnaround time and service experience.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Karteek Tadimalla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u="none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8288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The Cost of Manual IT Support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43200"/>
            <a:ext cx="21945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u="none">
                <a:solidFill>
                  <a:srgbClr val="D7CDF0"/>
                </a:solidFill>
                <a:latin typeface="Aptos"/>
              </a:rPr>
              <a:t>KEY DRIVERS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315468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318211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8211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Average cost per IT help desk ticket resolved manually: $22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813048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840480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Rise in ticket volumes since 2020: +16%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50292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100" b="1" u="none">
                <a:solidFill>
                  <a:srgbClr val="1E1E2F"/>
                </a:solidFill>
                <a:latin typeface="Aptos"/>
              </a:rPr>
              <a:t>Current Employee Challenges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1005840"/>
            <a:ext cx="397763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93592" y="1170432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3592" y="119786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808" y="1152144"/>
            <a:ext cx="3063239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404040"/>
                </a:solidFill>
                <a:latin typeface="Aptos"/>
              </a:rPr>
              <a:t>Pain Points Observed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3322" y="1565220"/>
            <a:ext cx="3215639" cy="20772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Without self-service, every IT issue — no matter how routine — lands on a human agent, driving up cost and wait times.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100584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754112" y="1170432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54112" y="119786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1152144"/>
            <a:ext cx="2743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404040"/>
                </a:solidFill>
                <a:latin typeface="Aptos"/>
              </a:rPr>
              <a:t>Business Need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1536192"/>
            <a:ext cx="2743200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Result: long queues, frustrated employees, agent burnout, and untracked incidents.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94314" y="3339011"/>
            <a:ext cx="781812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75888" y="3273552"/>
            <a:ext cx="3200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u="none">
                <a:solidFill>
                  <a:srgbClr val="1E1E2F"/>
                </a:solidFill>
                <a:latin typeface="Aptos"/>
              </a:rPr>
              <a:t>Proposed 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8" y="3584448"/>
            <a:ext cx="72237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AI-powered Virtual Agent (Now Assist) on ServiceNow Zurich enforcing standardized incident creation path.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Clean three-layer architecture — all native to ServiceNow Zurich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Design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36192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All layers reside natively on the Now Platform with zero external integration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2331720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Virtual Agent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2331720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 Portal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0" y="2331720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Orchestration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2356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2331720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Custom AI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2356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80" y="3931919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KB Lookup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23360" y="3931919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ITSM Automation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34640" y="3931919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Auto-Assignment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01168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45920" y="3931919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Notifications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3931919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20" b="1" u="none">
                <a:solidFill>
                  <a:srgbClr val="1E1E2F"/>
                </a:solidFill>
                <a:latin typeface="Aptos"/>
              </a:rPr>
              <a:t>Employee Confirmation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26679" y="1965960"/>
            <a:ext cx="36576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891271" y="2130552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91271" y="215798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6487" y="1655064"/>
            <a:ext cx="2743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404040"/>
                </a:solidFill>
                <a:latin typeface="Aptos"/>
              </a:rPr>
              <a:t>Architecture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76487" y="2496312"/>
            <a:ext cx="2743200" cy="18379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Virtual Agent Chat is the primary access point.</a:t>
            </a:r>
          </a:p>
          <a:p>
            <a:r>
              <a:rPr u="none"/>
              <a:t>Now Assist and Custom AI Agent orchestrate intent and KB lookup.</a:t>
            </a:r>
          </a:p>
          <a:p>
            <a:r>
              <a:rPr u="none"/>
              <a:t>Record Producer ensures standardized data capture.</a:t>
            </a:r>
          </a:p>
          <a:p>
            <a:r>
              <a:rPr u="none"/>
              <a:t>Assignment and Notifications are fully automated via ServiceNow native flows.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4919472"/>
            <a:ext cx="164592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65008" y="487375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u="none">
                <a:solidFill>
                  <a:srgbClr val="5C6170"/>
                </a:solidFill>
                <a:latin typeface="Aptos"/>
              </a:rPr>
              <a:t>User / Channel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18120" y="5193792"/>
            <a:ext cx="164592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65008" y="514807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u="none">
                <a:solidFill>
                  <a:srgbClr val="5C6170"/>
                </a:solidFill>
                <a:latin typeface="Aptos"/>
              </a:rPr>
              <a:t>Automation / Logic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5468112"/>
            <a:ext cx="164592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65008" y="542239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u="none">
                <a:solidFill>
                  <a:srgbClr val="5C6170"/>
                </a:solidFill>
                <a:latin typeface="Aptos"/>
              </a:rPr>
              <a:t>Decision / Support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" y="60990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 u="none">
                <a:solidFill>
                  <a:srgbClr val="404040"/>
                </a:solidFill>
                <a:latin typeface="Aptos"/>
              </a:rPr>
              <a:t>Portal conversation  →  Knowledge guidance  →  Decisioning  →  Incident workflow  →  Resolution confirmation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Components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Implementation Components on ServiceNow Zurich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3232" y="149047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Virtual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Custom conversation flows covering top IT query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25112" y="149047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Generative AI skills enabled for knowledge recommendation and intent resolution.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36992" y="149047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3699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Virtual Agent Topics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Now Assist conversational UI and natural-language understanding.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3232" y="290779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FD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Flow Designer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Business rule logic enforces 'Create Incident - Accenture Support' record producer.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325112" y="290779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2511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Incident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375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All AI-routed incidents land here; zero manual triage required.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936992" y="290779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3699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Catalog Item / 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Custom catalog item enforced via AI Agent policy to standardize data.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3232" y="432511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187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Client Script /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u="none">
                <a:solidFill>
                  <a:srgbClr val="5C6170"/>
                </a:solidFill>
                <a:latin typeface="Aptos"/>
              </a:rPr>
              <a:t>Improves form behavior and validates user input where interactive forms are used.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325112" y="432511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511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375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Script Include / Logic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375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Automated group assignment rule targeting 'ACCENTURE IT SUPPORT'.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936992" y="432511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3699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Notifications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Event-driven notifications for support team and automated closure notification.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u="none">
                <a:solidFill>
                  <a:srgbClr val="FFFFFF"/>
                </a:solidFill>
                <a:latin typeface="Aptos"/>
              </a:rPr>
              <a:t>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8288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End-to-End Process Flow from query to closed ticket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23317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u="none">
                <a:solidFill>
                  <a:srgbClr val="D7CDF0"/>
                </a:solidFill>
                <a:latin typeface="Aptos"/>
              </a:rPr>
              <a:t>KEY PRINCIPLES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33172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35915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5915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helpdesk call required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063239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090671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090671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manual ticket creation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79476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82219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82219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system navigation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452628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455371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55371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technical knowledge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75488"/>
            <a:ext cx="365760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u="none">
                <a:solidFill>
                  <a:srgbClr val="1E1E2F"/>
                </a:solidFill>
                <a:latin typeface="Aptos"/>
              </a:rPr>
              <a:t>Process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1051560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66160" y="121615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66160" y="124358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1161288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Employee Describes 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6512" y="1435608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 starts conversation with Virtual Agent (Now Assist)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2039112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566160" y="2203704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2231136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2" y="2148840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Virtual Agent Understands 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6512" y="2423160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Agent searches Knowledge Base, presents relevant articles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1568" y="3026664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566160" y="319125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66160" y="321868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2" y="3136392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Knowledge Articles Are Suggested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6512" y="3410712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Agent prompts employee to raise an incident if unresolved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1568" y="4014216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66160" y="4178808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6160" y="4206240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96512" y="4123944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Resolution Check &amp; Escalation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6512" y="4398264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Record created automatically via 'Create Incident - Accenture Support'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01568" y="5001768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566160" y="5166360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0" y="5193792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96512" y="5111496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Incident Is Logged, Assigned, and Tracked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96512" y="5385816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Incident auto-assigned to ACCENTURE IT SUPPORT; Team and Employee notified.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9584" y="6208776"/>
            <a:ext cx="7891272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40" b="1" u="none">
                <a:solidFill>
                  <a:srgbClr val="FFFFFF"/>
                </a:solidFill>
                <a:latin typeface="Aptos"/>
              </a:rPr>
              <a:t>Seamless end-to-end journey: portal entry → self-service guidance → automated ticketing → support follow-through → closure visibility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Benefits &amp;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Measurable gains in speed, consistency, and employee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474720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8952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EMP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Employee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24/7 Self-Service Availability.</a:t>
            </a:r>
          </a:p>
          <a:p>
            <a:r>
              <a:rPr u="none"/>
              <a:t>Employees raise incidents and access knowledge at any hour.</a:t>
            </a:r>
          </a:p>
          <a:p>
            <a:r>
              <a:rPr u="none"/>
              <a:t>No dependency on business hours or agent availability.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Instant 24/7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3474720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99432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IT Support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100% Standardized Incident Creation.</a:t>
            </a:r>
          </a:p>
          <a:p>
            <a:r>
              <a:rPr u="none"/>
              <a:t>Zero Manual Triage Required.</a:t>
            </a:r>
          </a:p>
          <a:p>
            <a:r>
              <a:rPr u="none"/>
              <a:t>All AI-routed incidents are auto-assigned to ACCENTURE IT SUPPORT.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8231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Zero-Touch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1417320"/>
            <a:ext cx="3474720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39912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991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ORG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Organizational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Real-Time Support Team Notifications.</a:t>
            </a:r>
          </a:p>
          <a:p>
            <a:r>
              <a:rPr u="none"/>
              <a:t>Event-driven notification on incident creation.</a:t>
            </a:r>
          </a:p>
          <a:p>
            <a:r>
              <a:rPr u="none"/>
              <a:t>Reduced manual assignment overhead — agents now focus on resolution.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279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Scalable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806440"/>
            <a:ext cx="25603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u="none">
                <a:solidFill>
                  <a:srgbClr val="1E1E2F"/>
                </a:solidFill>
                <a:latin typeface="Aptos"/>
              </a:rPr>
              <a:t>Value Chain Summary</a:t>
            </a:r>
          </a:p>
        </p:txBody>
      </p:sp>
      <p:sp>
        <p:nvSpPr>
          <p:cNvPr id="30" name="Oval 29"/>
          <p:cNvSpPr/>
          <p:nvPr/>
        </p:nvSpPr>
        <p:spPr>
          <a:xfrm>
            <a:off x="26517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517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Guided issue intake</a:t>
            </a:r>
          </a:p>
        </p:txBody>
      </p:sp>
      <p:sp>
        <p:nvSpPr>
          <p:cNvPr id="33" name="Oval 32"/>
          <p:cNvSpPr/>
          <p:nvPr/>
        </p:nvSpPr>
        <p:spPr>
          <a:xfrm>
            <a:off x="44805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805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Immediate self-service</a:t>
            </a:r>
          </a:p>
        </p:txBody>
      </p:sp>
      <p:sp>
        <p:nvSpPr>
          <p:cNvPr id="36" name="Oval 35"/>
          <p:cNvSpPr/>
          <p:nvPr/>
        </p:nvSpPr>
        <p:spPr>
          <a:xfrm>
            <a:off x="63093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Governed escalation</a:t>
            </a:r>
          </a:p>
        </p:txBody>
      </p:sp>
      <p:sp>
        <p:nvSpPr>
          <p:cNvPr id="39" name="Oval 38"/>
          <p:cNvSpPr/>
          <p:nvPr/>
        </p:nvSpPr>
        <p:spPr>
          <a:xfrm>
            <a:off x="81381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381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Ticket visibility</a:t>
            </a:r>
          </a:p>
        </p:txBody>
      </p:sp>
      <p:sp>
        <p:nvSpPr>
          <p:cNvPr id="42" name="Oval 41"/>
          <p:cNvSpPr/>
          <p:nvPr/>
        </p:nvSpPr>
        <p:spPr>
          <a:xfrm>
            <a:off x="99669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669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510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Improved service experience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Representative Use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Live Demo Scenario: VPN Troubleshooting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2763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Initiate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6596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Ananya opens the Employee Portal and starts a chat with the Virtual Agent.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281635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81912" y="286207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Guided Assistance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64808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2763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Assistance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96596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Now Assist understands intent and surfaces the top 3 VPN troubleshooting KB articles.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81635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59752" y="286207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Automated Ticketing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390448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93192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86791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Incident 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0624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Issue not resolved — Custom AI Agent creates incident via 'Create Incident - Accenture Support'.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505663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81912" y="510235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Knowledge Deflection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70332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64808" y="390448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393192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86791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Resolution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20624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Ticket auto-assigned; Engineer resolves VPN issue; Ananya receives automated closure notification.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505663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59752" y="510235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Seamless Follow-up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92040" y="5715000"/>
            <a:ext cx="242316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10912" y="5843016"/>
            <a:ext cx="2194560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 u="none">
                <a:solidFill>
                  <a:srgbClr val="5C6170"/>
                </a:solidFill>
                <a:latin typeface="Aptos"/>
              </a:rPr>
              <a:t>All scenarios keep the user in one guided conversational flow.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Challenges, Limitations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737360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Phase 2: Expanded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Broaden knowledge base coverage; enable multi-turn diagnostic conversations for complex IT issues.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Wider Reach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90872" y="1737360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Phase 3: HR &amp; Facilities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Extend Virtual Agent beyond IT to HR and Facilities use cases — all on the same ServiceNow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4024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37176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Cross-Domain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0183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13063" y="1737360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13063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FX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3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Phase 4: Agentic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5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Autonomous Tier 1 incident resolution with no human intervention, leveraging ServiceNow's evolving AI agent capabilities.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86215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59367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Autonomous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Testing &amp; Execution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u="none">
                <a:solidFill>
                  <a:srgbClr val="5C6170"/>
                </a:solidFill>
                <a:latin typeface="Aptos"/>
              </a:rPr>
              <a:t>Validation of the end-to-end conversation and incident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2011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Preconditions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User is logged into the ServiceNow portal.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Virtual Agent is enabled and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801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87968" y="1481328"/>
            <a:ext cx="21031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Success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1783080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The complete flow executes successfully.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Incident is traceable in the incident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587752"/>
            <a:ext cx="44805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514600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16152" y="2587752"/>
            <a:ext cx="309981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514600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0832" y="2587752"/>
            <a:ext cx="236829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514600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3992" y="2587752"/>
            <a:ext cx="534009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990088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063240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2990088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3063240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Access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990088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063240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Login as employee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990088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3063240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User authenticated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465576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538728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3465576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3538728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Launch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465576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3538728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Open Virtual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3465576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12280" y="3538728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Chat window launches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3941064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014216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3941064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34440" y="4014216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Describe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941064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0" y="4014216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Enter issue description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3941064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12280" y="4014216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Intent recognized or routed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416552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4489704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" y="4416552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34440" y="4489704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Self-service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416552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89120" y="4489704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View KB suggestions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0" y="4416552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12280" y="4489704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Relevant articles displayed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4892040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4965192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" y="4892040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34440" y="4965192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Decision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43400" y="4892040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89120" y="4965192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Select unable to resolve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0" y="4892040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12280" y="4965192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workflow triggered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5367528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" y="5440680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88720" y="5367528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34440" y="5440680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Create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43400" y="5367528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389120" y="5440680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generated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66560" y="5367528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12280" y="5440680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number created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" y="5843016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1520" y="5916168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88720" y="5843016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234440" y="5916168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Notify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43400" y="5843016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389120" y="5916168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Notification sent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66560" y="5843016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812280" y="5916168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User receives confirmation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5800" y="6318504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1520" y="6391656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88720" y="6318504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234440" y="6391656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Verify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43400" y="6318504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89120" y="6391656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Check incident record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66560" y="6318504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812280" y="6391656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visible in Incident Table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" y="6428232"/>
            <a:ext cx="10469880" cy="1097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 u="none">
                <a:solidFill>
                  <a:srgbClr val="5C6170"/>
                </a:solidFill>
                <a:latin typeface="Aptos"/>
              </a:rPr>
              <a:t>Execution focus: validate user journey, KB display, incident creation, assignment visibility, and confirmation messaging in one integrated test.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>
                <a:solidFill>
                  <a:srgbClr val="FFFFFF"/>
                </a:solidFill>
              </a:rPr>
              <a:t>Final Achievements &amp; Conclusion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u="none">
                <a:solidFill>
                  <a:srgbClr val="FFFFFF"/>
                </a:solidFill>
                <a:latin typeface="Aptos"/>
              </a:rPr>
              <a:t>IMPLEMENTED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240280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267712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58568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Virtual Agent conversation flow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807208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834640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25496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Knowledge Base integration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374136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401568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392424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Automated incident creation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41064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968496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959352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Assignment workflow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4507992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535424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526280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Notification mechanism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" y="5074920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102352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5093208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End-to-end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029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u="none">
                <a:solidFill>
                  <a:srgbClr val="FFFFFF"/>
                </a:solidFill>
                <a:latin typeface="Aptos"/>
              </a:rPr>
              <a:t>Demo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987552"/>
            <a:ext cx="37033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593592" y="1152144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3592" y="1179576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8808" y="1133856"/>
            <a:ext cx="2788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What the Demo Showed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8808" y="1517904"/>
            <a:ext cx="2788920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User issue captured successfully in the chat interface.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Relevant knowledge content displayed for self-service troubleshooting.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Incident was created automatically when the issue remained unresolved.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User received a confirmation with the ticket reference.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987552"/>
            <a:ext cx="397763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461504" y="1152144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61504" y="1179576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1133856"/>
            <a:ext cx="30632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Operational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1517904"/>
            <a:ext cx="3063239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Support workflow continued after automated incident creation.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Assignment path provided a clear ownership route for follow-up.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The solution reduced manual support effort in the intake stage.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The overall experience remained simple from the user perspective.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3063240"/>
            <a:ext cx="7882127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39312" y="3310128"/>
            <a:ext cx="7315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Key Achievement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9312" y="3611880"/>
            <a:ext cx="72694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>
                <a:solidFill>
                  <a:srgbClr val="FFFFFF"/>
                </a:solidFill>
              </a:rPr>
              <a:t>Demonstrated 100% Standardized Incident Creation and Zero Manual Triage Required using Now Assist on ServiceNow Zurich.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4315968"/>
            <a:ext cx="7882127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593592" y="44805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93592" y="45079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8808" y="4462272"/>
            <a:ext cx="696772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8808" y="4846320"/>
            <a:ext cx="6967727" cy="8961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Demonstrates a practical automation use case on the ServiceNow platform.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Shows how self-service and incident governance can coexist in one journey.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Creates a foundation for future AI, search, and multi-channel expansion.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5943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00FF"/>
                </a:solidFill>
              </a:defRPr>
            </a:pPr>
            <a:r>
              <a:rPr u="none">
                <a:solidFill>
                  <a:srgbClr val="FFFFFF"/>
                </a:solidFill>
              </a:rPr>
              <a:t>Ready to accelerate your IT support transformation.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Karteek Tadimalla | Slide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Oval 13"/>
          <p:cNvSpPr/>
          <p:nvPr/>
        </p:nvSpPr>
        <p:spPr>
          <a:xfrm>
            <a:off x="411480" y="2185416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2212848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212848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Employees attempt to self-serve first: 81%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284378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87121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71216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Support teams are stretched thin and overwhelmed</a:t>
            </a:r>
          </a:p>
        </p:txBody>
      </p:sp>
      <p:sp>
        <p:nvSpPr>
          <p:cNvPr id="34" name="Oval 33"/>
          <p:cNvSpPr/>
          <p:nvPr/>
        </p:nvSpPr>
        <p:spPr>
          <a:xfrm>
            <a:off x="3675888" y="19659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5888" y="1993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4448" y="2450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Understand issue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2724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Now Assist conversational interface for natural-language IT support queries.</a:t>
            </a:r>
          </a:p>
        </p:txBody>
      </p:sp>
      <p:sp>
        <p:nvSpPr>
          <p:cNvPr id="39" name="Oval 38"/>
          <p:cNvSpPr/>
          <p:nvPr/>
        </p:nvSpPr>
        <p:spPr>
          <a:xfrm>
            <a:off x="5157216" y="19659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57216" y="1993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5776" y="2450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Recommend KB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0056" y="2724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Instant KB article recommendations before incident creation.</a:t>
            </a:r>
          </a:p>
        </p:txBody>
      </p:sp>
      <p:sp>
        <p:nvSpPr>
          <p:cNvPr id="44" name="Oval 43"/>
          <p:cNvSpPr/>
          <p:nvPr/>
        </p:nvSpPr>
        <p:spPr>
          <a:xfrm>
            <a:off x="6638544" y="19659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38544" y="1993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2450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Check resolution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1384" y="2724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Enforces use of 'Create Incident - Accenture Support' record producer.</a:t>
            </a:r>
          </a:p>
        </p:txBody>
      </p:sp>
      <p:sp>
        <p:nvSpPr>
          <p:cNvPr id="49" name="Oval 48"/>
          <p:cNvSpPr/>
          <p:nvPr/>
        </p:nvSpPr>
        <p:spPr>
          <a:xfrm>
            <a:off x="8119872" y="19659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19872" y="1993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2" y="2450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Raise incident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2712" y="2724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Routes all incidents to 'ACCENTURE IT SUPPORT' group automatically.</a:t>
            </a:r>
          </a:p>
        </p:txBody>
      </p:sp>
      <p:sp>
        <p:nvSpPr>
          <p:cNvPr id="54" name="Oval 53"/>
          <p:cNvSpPr/>
          <p:nvPr/>
        </p:nvSpPr>
        <p:spPr>
          <a:xfrm>
            <a:off x="9601200" y="19659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01200" y="1993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2450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Notify stakeholders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2724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Real-time alerts to the support group and employee closure notification.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A100FF"/>
                </a:solidFill>
              </a:defRPr>
            </a:pPr>
            <a:r>
              <a:t>Proposed Solution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Tadimalla, Karteek</dc:creator>
  <cp:keywords/>
  <dc:description>generated using python-pptx</dc:description>
  <cp:lastModifiedBy>Tadimalla, Karteek</cp:lastModifiedBy>
  <cp:revision>10</cp:revision>
  <dcterms:created xsi:type="dcterms:W3CDTF">2026-07-03T06:18:25Z</dcterms:created>
  <dcterms:modified xsi:type="dcterms:W3CDTF">2026-07-03T07:00:01Z</dcterms:modified>
  <cp:category/>
</cp:coreProperties>
</file>