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B4CEC0-A748-427F-32BB-7ACE435BF92D}" v="7" dt="2026-07-03T06:25:01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109728" cy="68580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240" y="250371"/>
            <a:ext cx="347472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Virtual Agent
Self-Service &amp; Incident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530" y="2153194"/>
            <a:ext cx="35661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Powered by ServiceNow Now Assist × Accenture | ServiceNow Zurich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530" y="2928983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Presented by: Karteek Tadimalla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703320"/>
            <a:ext cx="3154680" cy="384048"/>
          </a:xfrm>
          <a:prstGeom prst="roundRect">
            <a:avLst>
              <a:gd name="adj" fmla="val 30000"/>
            </a:avLst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3749040"/>
            <a:ext cx="283464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20" b="1">
                <a:solidFill>
                  <a:srgbClr val="FFFFFF"/>
                </a:solidFill>
                <a:latin typeface="Aptos"/>
              </a:rPr>
              <a:t>Knowledge-Based Self-Service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233672"/>
            <a:ext cx="3154680" cy="384048"/>
          </a:xfrm>
          <a:prstGeom prst="roundRect">
            <a:avLst>
              <a:gd name="adj" fmla="val 30000"/>
            </a:avLst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4279392"/>
            <a:ext cx="283464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20" b="1">
                <a:solidFill>
                  <a:srgbClr val="FFFFFF"/>
                </a:solidFill>
                <a:latin typeface="Aptos"/>
              </a:rPr>
              <a:t>Automated Incident Creation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764024"/>
            <a:ext cx="3154680" cy="384048"/>
          </a:xfrm>
          <a:prstGeom prst="roundRect">
            <a:avLst>
              <a:gd name="adj" fmla="val 30000"/>
            </a:avLst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4809744"/>
            <a:ext cx="283464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20" b="1">
                <a:solidFill>
                  <a:srgbClr val="FFFFFF"/>
                </a:solidFill>
                <a:latin typeface="Aptos"/>
              </a:rPr>
              <a:t>Reduced Manual Effort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294375"/>
            <a:ext cx="3154680" cy="384048"/>
          </a:xfrm>
          <a:prstGeom prst="roundRect">
            <a:avLst>
              <a:gd name="adj" fmla="val 30000"/>
            </a:avLst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5340095"/>
            <a:ext cx="283464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20" b="1">
                <a:solidFill>
                  <a:srgbClr val="FFFFFF"/>
                </a:solidFill>
                <a:latin typeface="Aptos"/>
              </a:rPr>
              <a:t>Improved User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640080"/>
            <a:ext cx="6400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1E1E2F"/>
                </a:solidFill>
                <a:latin typeface="Aptos"/>
              </a:rPr>
              <a:t>Executive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1024128"/>
            <a:ext cx="6400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0">
                <a:solidFill>
                  <a:srgbClr val="5C6170"/>
                </a:solidFill>
                <a:latin typeface="Aptos"/>
              </a:rPr>
              <a:t>A conversational IT support journey that helps employees resolve standard issues first and automatically logs incidents only when self-service does not solve the problem.</a:t>
            </a:r>
          </a:p>
        </p:txBody>
      </p:sp>
      <p:sp>
        <p:nvSpPr>
          <p:cNvPr id="17" name="Oval 16"/>
          <p:cNvSpPr/>
          <p:nvPr/>
        </p:nvSpPr>
        <p:spPr>
          <a:xfrm>
            <a:off x="5349240" y="1920240"/>
            <a:ext cx="685800" cy="685800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4924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USR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>
                <a:solidFill>
                  <a:srgbClr val="1E1E2F"/>
                </a:solidFill>
                <a:latin typeface="Aptos"/>
              </a:rPr>
              <a:t>Employee
Issue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9048" y="2267712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629400" y="1920240"/>
            <a:ext cx="685800" cy="68580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>
                <a:solidFill>
                  <a:srgbClr val="1E1E2F"/>
                </a:solidFill>
                <a:latin typeface="Aptos"/>
              </a:rPr>
              <a:t>Virtual
Agent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79208" y="2267712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909560" y="1920240"/>
            <a:ext cx="685800" cy="685800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0956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KB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>
                <a:solidFill>
                  <a:srgbClr val="1E1E2F"/>
                </a:solidFill>
                <a:latin typeface="Aptos"/>
              </a:rPr>
              <a:t>Knowledge
Articles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59368" y="2267712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189720" y="1920240"/>
            <a:ext cx="685800" cy="685800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8972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INC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>
                <a:solidFill>
                  <a:srgbClr val="1E1E2F"/>
                </a:solidFill>
                <a:latin typeface="Aptos"/>
              </a:rPr>
              <a:t>Incident
Logging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939528" y="2267712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0469880" y="1920240"/>
            <a:ext cx="685800" cy="685800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46988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7844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>
                <a:solidFill>
                  <a:srgbClr val="1E1E2F"/>
                </a:solidFill>
                <a:latin typeface="Aptos"/>
              </a:rPr>
              <a:t>Support
Action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66360" y="3383280"/>
            <a:ext cx="62179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349240" y="3511296"/>
            <a:ext cx="438912" cy="438912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49240" y="3538728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3474720"/>
            <a:ext cx="19202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>
                <a:solidFill>
                  <a:srgbClr val="1E1E2F"/>
                </a:solidFill>
                <a:latin typeface="Aptos"/>
              </a:rPr>
              <a:t>Self-Service First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7880" y="3694176"/>
            <a:ext cx="52578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Employees get guided support in a single chat interface instead of navigating multiple portals and forms.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66360" y="4297680"/>
            <a:ext cx="62179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349240" y="4425696"/>
            <a:ext cx="438912" cy="438912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49240" y="4453128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80" y="4389120"/>
            <a:ext cx="19202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>
                <a:solidFill>
                  <a:srgbClr val="1E1E2F"/>
                </a:solidFill>
                <a:latin typeface="Aptos"/>
              </a:rPr>
              <a:t>Controlled Escalation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80" y="4608576"/>
            <a:ext cx="52578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Unresolved requests move into standardized incident logging with assignment, tracking, and notifications.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66360" y="5212080"/>
            <a:ext cx="62179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5349240" y="5340096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49240" y="5367528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97880" y="5303520"/>
            <a:ext cx="19202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>
                <a:solidFill>
                  <a:srgbClr val="1E1E2F"/>
                </a:solidFill>
                <a:latin typeface="Aptos"/>
              </a:rPr>
              <a:t>Operational Efficiency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97880" y="5522976"/>
            <a:ext cx="52578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Reduced manual handoffs and consistent process steps improve turnaround time and service experience.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28600" y="6556248"/>
            <a:ext cx="117500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Zero Manual Handoff  |  Faster Resolution  |  Self-Service First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Karteek Tadimalla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286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828800"/>
            <a:ext cx="2377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The Cost of Manual IT Support</a:t>
            </a:r>
          </a:p>
        </p:txBody>
      </p:sp>
      <p:sp>
        <p:nvSpPr>
          <p:cNvPr id="5" name="Oval 4"/>
          <p:cNvSpPr/>
          <p:nvPr/>
        </p:nvSpPr>
        <p:spPr>
          <a:xfrm>
            <a:off x="2331720" y="347472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86584" y="393192"/>
            <a:ext cx="329184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5F249F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43200"/>
            <a:ext cx="21945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7CDF0"/>
                </a:solidFill>
                <a:latin typeface="Aptos"/>
              </a:rPr>
              <a:t>KEY DRIVERS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3154680"/>
            <a:ext cx="329184" cy="32918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3182112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82112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Average cost per IT help desk ticket resolved manually: $22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3813048"/>
            <a:ext cx="329184" cy="32918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3840480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40480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Rise in ticket volumes since 2020: +16%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4471416"/>
            <a:ext cx="329184" cy="32918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4498848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98848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Employees attempt to self-serve first: 81%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5129784"/>
            <a:ext cx="329184" cy="32918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515721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57216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Support teams are stretched thin and overwhelmed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502920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100" b="1">
                <a:solidFill>
                  <a:srgbClr val="1E1E2F"/>
                </a:solidFill>
                <a:latin typeface="Aptos"/>
              </a:rPr>
              <a:t>Current Employee Challenges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1005840"/>
            <a:ext cx="3977639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593592" y="1170432"/>
            <a:ext cx="457200" cy="457200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93592" y="1197864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78808" y="1152144"/>
            <a:ext cx="30632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E1E2F"/>
                </a:solidFill>
                <a:latin typeface="Aptos"/>
              </a:rPr>
              <a:t>Pain Points Observed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3322" y="1565220"/>
            <a:ext cx="3215639" cy="20772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Without self-service, every IT issue — no matter how routine — lands on a human agent, driving up cost and wait times.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100584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754112" y="1170432"/>
            <a:ext cx="457200" cy="457200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54112" y="1197864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$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1152144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E1E2F"/>
                </a:solidFill>
                <a:latin typeface="Aptos"/>
              </a:rPr>
              <a:t>Business Need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1536192"/>
            <a:ext cx="2743200" cy="11521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Result: long queues, frustrated employees, agent burnout, and untracked incidents.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94314" y="3339011"/>
            <a:ext cx="7818120" cy="2606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75888" y="3273552"/>
            <a:ext cx="3200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E1E2F"/>
                </a:solidFill>
                <a:latin typeface="Aptos"/>
              </a:rPr>
              <a:t>Proposed Solution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5888" y="3584448"/>
            <a:ext cx="72237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AI-powered Virtual Agent (Now Assist) on ServiceNow Zurich enforcing standardized incident creation path.</a:t>
            </a:r>
          </a:p>
        </p:txBody>
      </p:sp>
      <p:sp>
        <p:nvSpPr>
          <p:cNvPr id="34" name="Oval 33"/>
          <p:cNvSpPr/>
          <p:nvPr/>
        </p:nvSpPr>
        <p:spPr>
          <a:xfrm>
            <a:off x="3675888" y="4251960"/>
            <a:ext cx="457200" cy="457200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5888" y="4279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4448" y="4736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>
                <a:solidFill>
                  <a:srgbClr val="1E1E2F"/>
                </a:solidFill>
                <a:latin typeface="Aptos"/>
              </a:rPr>
              <a:t>Understand issue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5010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Now Assist conversational interface for natural-language IT support queries.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224528" y="4480560"/>
            <a:ext cx="73152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157216" y="4251960"/>
            <a:ext cx="457200" cy="457200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57216" y="4279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65776" y="4736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>
                <a:solidFill>
                  <a:srgbClr val="1E1E2F"/>
                </a:solidFill>
                <a:latin typeface="Aptos"/>
              </a:rPr>
              <a:t>Recommend KB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0056" y="5010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Instant KB article recommendations before incident creation.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705856" y="4480560"/>
            <a:ext cx="73152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6638544" y="4251960"/>
            <a:ext cx="457200" cy="457200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38544" y="4279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7104" y="4736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>
                <a:solidFill>
                  <a:srgbClr val="1E1E2F"/>
                </a:solidFill>
                <a:latin typeface="Aptos"/>
              </a:rPr>
              <a:t>Check resolution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01384" y="5010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Enforces use of 'Create Incident - Accenture Support' record producer.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187184" y="4480560"/>
            <a:ext cx="73152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8119872" y="4251960"/>
            <a:ext cx="457200" cy="457200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19872" y="4279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28432" y="4736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>
                <a:solidFill>
                  <a:srgbClr val="1E1E2F"/>
                </a:solidFill>
                <a:latin typeface="Aptos"/>
              </a:rPr>
              <a:t>Raise incident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82712" y="5010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Routes all incidents to 'ACCENTURE IT SUPPORT' group automatically.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668512" y="4480560"/>
            <a:ext cx="73152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9601200" y="4251960"/>
            <a:ext cx="457200" cy="457200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601200" y="4279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4736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>
                <a:solidFill>
                  <a:srgbClr val="1E1E2F"/>
                </a:solidFill>
                <a:latin typeface="Aptos"/>
              </a:rPr>
              <a:t>Notify stakeholders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64040" y="5010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Real-time alerts to the support group and employee closure notification.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28600" y="6556248"/>
            <a:ext cx="117500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Self-service for repeatable issues  |  Fewer portal hops  |  Standardized escalation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0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Karteek Tadimalla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1E1E2F"/>
                </a:solidFill>
                <a:latin typeface="Aptos"/>
              </a:rP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Clean three-layer architecture — all native to ServiceNow Zurich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45720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E1E2F"/>
                </a:solidFill>
                <a:latin typeface="Aptos"/>
              </a:rPr>
              <a:t>Design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536192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All layers reside natively on the Now Platform with zero external integration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1645920" cy="100584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331720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Employee 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011680" y="2148840"/>
            <a:ext cx="1645920" cy="100584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84832" y="2331720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Virtual Agent Chat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0" y="2148840"/>
            <a:ext cx="1645920" cy="100584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73552" y="2331720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Employee Portal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9120" y="2148840"/>
            <a:ext cx="1645920" cy="100584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62272" y="2331720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AI Orchestration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23560" y="2148840"/>
            <a:ext cx="1645920" cy="100584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96712" y="2331720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Custom AI Agent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23560" y="3749039"/>
            <a:ext cx="1645920" cy="100584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96712" y="3931919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KB Lookup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3749039"/>
            <a:ext cx="1645920" cy="100584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62272" y="3931919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ITSM Automation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0" y="3749039"/>
            <a:ext cx="1645920" cy="100584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73552" y="3931919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Auto-Assignment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1168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011680" y="3749039"/>
            <a:ext cx="1645920" cy="100584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084832" y="3931919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Notifications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2960" y="3749039"/>
            <a:ext cx="1645920" cy="100584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6112" y="3931919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20" b="1">
                <a:solidFill>
                  <a:srgbClr val="1E1E2F"/>
                </a:solidFill>
                <a:latin typeface="Aptos"/>
              </a:rPr>
              <a:t>Employee Confirmation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2011680" y="2505456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3200400" y="2505456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4389120" y="2505456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5623560" y="2505456"/>
            <a:ext cx="41148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446520" y="2862072"/>
            <a:ext cx="0" cy="868680"/>
          </a:xfrm>
          <a:prstGeom prst="line">
            <a:avLst/>
          </a:prstGeom>
          <a:ln w="25400">
            <a:solidFill>
              <a:srgbClr val="00A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623560" y="4105655"/>
            <a:ext cx="41148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89120" y="4105655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200400" y="4105655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011680" y="4105655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726679" y="1965960"/>
            <a:ext cx="365760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891271" y="2130552"/>
            <a:ext cx="457200" cy="457200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891271" y="2157984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76487" y="2112264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E1E2F"/>
                </a:solidFill>
                <a:latin typeface="Aptos"/>
              </a:rPr>
              <a:t>Architecture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76487" y="2496312"/>
            <a:ext cx="2743200" cy="18379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Virtual Agent Chat is the primary access point.</a:t>
            </a:r>
          </a:p>
          <a:p>
            <a:r>
              <a:t>Now Assist and Custom AI Agent orchestrate intent and KB lookup.</a:t>
            </a:r>
          </a:p>
          <a:p>
            <a:r>
              <a:t>Record Producer ensures standardized data capture.</a:t>
            </a:r>
          </a:p>
          <a:p>
            <a:r>
              <a:t>Assignment and Notifications are fully automated via ServiceNow native flows.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20" y="4919472"/>
            <a:ext cx="164592" cy="164592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65008" y="4873752"/>
            <a:ext cx="1828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>
                <a:solidFill>
                  <a:srgbClr val="5C6170"/>
                </a:solidFill>
                <a:latin typeface="Aptos"/>
              </a:rPr>
              <a:t>User / Channel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18120" y="5193792"/>
            <a:ext cx="164592" cy="16459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65008" y="5148072"/>
            <a:ext cx="1828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>
                <a:solidFill>
                  <a:srgbClr val="5C6170"/>
                </a:solidFill>
                <a:latin typeface="Aptos"/>
              </a:rPr>
              <a:t>Automation / Logic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18120" y="5468112"/>
            <a:ext cx="164592" cy="164592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065008" y="5422392"/>
            <a:ext cx="1828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>
                <a:solidFill>
                  <a:srgbClr val="5C6170"/>
                </a:solidFill>
                <a:latin typeface="Aptos"/>
              </a:rPr>
              <a:t>Decision / Support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28600" y="6556248"/>
            <a:ext cx="117500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Portal conversation  →  Knowledge guidance  →  Decisioning  →  Incident workflow  →  Resolution confirmation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0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Karteek Tadimalla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1E1E2F"/>
                </a:solidFill>
                <a:latin typeface="Aptos"/>
              </a:rPr>
              <a:t>Components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Implementation Components on ServiceNow Zurich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45720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13232" y="1490472"/>
            <a:ext cx="438912" cy="438912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51790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43560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>
                <a:solidFill>
                  <a:srgbClr val="1E1E2F"/>
                </a:solidFill>
                <a:latin typeface="Aptos"/>
              </a:rPr>
              <a:t>Virtual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67335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Custom conversation flows covering top IT query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32588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325112" y="1490472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25112" y="151790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KB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43560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>
                <a:solidFill>
                  <a:srgbClr val="1E1E2F"/>
                </a:solidFill>
                <a:latin typeface="Aptos"/>
              </a:rPr>
              <a:t>Knowledge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167335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Generative AI skills enabled for knowledge recommendation and intent resolution.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32588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936992" y="1490472"/>
            <a:ext cx="438912" cy="438912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36992" y="151790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143560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>
                <a:solidFill>
                  <a:srgbClr val="1E1E2F"/>
                </a:solidFill>
                <a:latin typeface="Aptos"/>
              </a:rPr>
              <a:t>Virtual Agent Topics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167335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Now Assist conversational UI and natural-language understanding.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74320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13232" y="2907792"/>
            <a:ext cx="438912" cy="438912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293522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285292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>
                <a:solidFill>
                  <a:srgbClr val="1E1E2F"/>
                </a:solidFill>
                <a:latin typeface="Aptos"/>
              </a:rPr>
              <a:t>Flow Designer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309067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Business rule logic enforces 'Create Incident - Accenture Support' record producer.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274320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325112" y="2907792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25112" y="293522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3752" y="285292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>
                <a:solidFill>
                  <a:srgbClr val="1E1E2F"/>
                </a:solidFill>
                <a:latin typeface="Aptos"/>
              </a:rPr>
              <a:t>Incident 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3752" y="309067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All AI-routed incidents land here; zero manual triage required.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274320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936992" y="2907792"/>
            <a:ext cx="438912" cy="438912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36992" y="293522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285292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>
                <a:solidFill>
                  <a:srgbClr val="1E1E2F"/>
                </a:solidFill>
                <a:latin typeface="Aptos"/>
              </a:rPr>
              <a:t>Catalog Item / Request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309067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Custom catalog item enforced via AI Agent policy to standardize data.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16052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13232" y="4325112"/>
            <a:ext cx="438912" cy="438912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" y="435254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61872" y="427024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>
                <a:solidFill>
                  <a:srgbClr val="1E1E2F"/>
                </a:solidFill>
                <a:latin typeface="Aptos"/>
              </a:rPr>
              <a:t>Client Script / 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1872" y="450799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C6170"/>
                </a:solidFill>
                <a:latin typeface="Aptos"/>
              </a:rPr>
              <a:t>Improves form behavior and validates user input where interactive forms are used.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0520" y="416052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325112" y="4325112"/>
            <a:ext cx="438912" cy="438912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25112" y="435254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73752" y="427024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>
                <a:solidFill>
                  <a:srgbClr val="1E1E2F"/>
                </a:solidFill>
                <a:latin typeface="Aptos"/>
              </a:rPr>
              <a:t>Script Include / Logic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73752" y="450799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Automated group assignment rule targeting 'ACCENTURE IT SUPPORT'.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416052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936992" y="4325112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936992" y="435254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5632" y="427024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>
                <a:solidFill>
                  <a:srgbClr val="1E1E2F"/>
                </a:solidFill>
                <a:latin typeface="Aptos"/>
              </a:rPr>
              <a:t>Notifications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5632" y="450799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Event-driven notifications for support team and automated closure notification.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28600" y="6556248"/>
            <a:ext cx="117500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Modular design  |  Reusable automation  |  Standard ITSM record handling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Karteek Tadimalla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286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828800"/>
            <a:ext cx="2377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End-to-End Process Flow from query to closed ticket</a:t>
            </a:r>
          </a:p>
        </p:txBody>
      </p:sp>
      <p:sp>
        <p:nvSpPr>
          <p:cNvPr id="5" name="Oval 4"/>
          <p:cNvSpPr/>
          <p:nvPr/>
        </p:nvSpPr>
        <p:spPr>
          <a:xfrm>
            <a:off x="2331720" y="347472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86584" y="393192"/>
            <a:ext cx="329184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5F249F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20240"/>
            <a:ext cx="23317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7CDF0"/>
                </a:solidFill>
                <a:latin typeface="Aptos"/>
              </a:rPr>
              <a:t>KEY PRINCIPLES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2331720"/>
            <a:ext cx="329184" cy="32918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359152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59152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Aptos"/>
              </a:rPr>
              <a:t>No helpdesk call required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3063239"/>
            <a:ext cx="329184" cy="32918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3090671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090671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Aptos"/>
              </a:rPr>
              <a:t>No manual ticket creation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794760"/>
            <a:ext cx="329184" cy="32918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822192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822192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Aptos"/>
              </a:rPr>
              <a:t>No system navigation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4526280"/>
            <a:ext cx="329184" cy="32918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4553712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553712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Aptos"/>
              </a:rPr>
              <a:t>No technical knowledge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75488"/>
            <a:ext cx="365760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1E1E2F"/>
                </a:solidFill>
                <a:latin typeface="Aptos"/>
              </a:rPr>
              <a:t>Process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1568" y="1051560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566160" y="1216152"/>
            <a:ext cx="438912" cy="438912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66160" y="124358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1161288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E1E2F"/>
                </a:solidFill>
                <a:latin typeface="Aptos"/>
              </a:rPr>
              <a:t>Employee Describes 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96512" y="1435608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Employee starts conversation with Virtual Agent (Now Assist)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1568" y="2039112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566160" y="2203704"/>
            <a:ext cx="438912" cy="438912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66160" y="2231136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96512" y="2148840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E1E2F"/>
                </a:solidFill>
                <a:latin typeface="Aptos"/>
              </a:rPr>
              <a:t>Virtual Agent Understands Request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6512" y="2423160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AI Agent searches Knowledge Base, presents relevant articles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01568" y="3026664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566160" y="3191256"/>
            <a:ext cx="438912" cy="438912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66160" y="3218688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96512" y="3136392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E1E2F"/>
                </a:solidFill>
                <a:latin typeface="Aptos"/>
              </a:rPr>
              <a:t>Knowledge Articles Are Suggested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96512" y="3410712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AI Agent prompts employee to raise an incident if unresolved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1568" y="4014216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566160" y="4178808"/>
            <a:ext cx="438912" cy="438912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66160" y="4206240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96512" y="4123944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E1E2F"/>
                </a:solidFill>
                <a:latin typeface="Aptos"/>
              </a:rPr>
              <a:t>Resolution Check &amp; Escalation Decision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96512" y="4398264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Record created automatically via 'Create Incident - Accenture Support'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01568" y="5001768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566160" y="5166360"/>
            <a:ext cx="438912" cy="438912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66160" y="5193792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96512" y="5111496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E1E2F"/>
                </a:solidFill>
                <a:latin typeface="Aptos"/>
              </a:rPr>
              <a:t>Incident Is Logged, Assigned, and Tracked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96512" y="5385816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Incident auto-assigned to ACCENTURE IT SUPPORT; Team and Employee notified.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29000" y="6153912"/>
            <a:ext cx="8092440" cy="365760"/>
          </a:xfrm>
          <a:prstGeom prst="roundRect">
            <a:avLst>
              <a:gd name="adj" fmla="val 15000"/>
            </a:avLst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529584" y="6208776"/>
            <a:ext cx="7891272" cy="1463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40" b="1">
                <a:solidFill>
                  <a:srgbClr val="FFFFFF"/>
                </a:solidFill>
                <a:latin typeface="Aptos"/>
              </a:rPr>
              <a:t>Seamless end-to-end journey: portal entry → self-service guidance → automated ticketing → support follow-through → closure visibility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Karteek Tadimalla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1E1E2F"/>
                </a:solidFill>
                <a:latin typeface="Aptos"/>
              </a:rPr>
              <a:t>Benefits &amp; 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Measurable gains in speed, consistency, and employee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45720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74720" cy="4069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3474720" cy="164592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58952" y="1664208"/>
            <a:ext cx="512064" cy="512064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744" y="1691640"/>
            <a:ext cx="24688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E1E2F"/>
                </a:solidFill>
                <a:latin typeface="Aptos"/>
              </a:rPr>
              <a:t>Employee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2834640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24/7 Self-Service Availability.</a:t>
            </a:r>
          </a:p>
          <a:p>
            <a:r>
              <a:t>Employees raise incidents and access knowledge at any hour.</a:t>
            </a:r>
          </a:p>
          <a:p>
            <a:r>
              <a:t>No dependency on business hours or agent availability.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937760"/>
            <a:ext cx="2880360" cy="384048"/>
          </a:xfrm>
          <a:prstGeom prst="roundRect">
            <a:avLst>
              <a:gd name="adj" fmla="val 25000"/>
            </a:avLst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4983480"/>
            <a:ext cx="27340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Higher consistency and faster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3474720" cy="4069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417320"/>
            <a:ext cx="3474720" cy="164592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99432" y="1664208"/>
            <a:ext cx="512064" cy="51206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2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1691640"/>
            <a:ext cx="24688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E1E2F"/>
                </a:solidFill>
                <a:latin typeface="Aptos"/>
              </a:rPr>
              <a:t>IT Support Benefits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240280"/>
            <a:ext cx="2834640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100% Standardized Incident Creation.</a:t>
            </a:r>
          </a:p>
          <a:p>
            <a:r>
              <a:t>Zero Manual Triage Required.</a:t>
            </a:r>
          </a:p>
          <a:p>
            <a:r>
              <a:t>All AI-routed incidents are auto-assigned to ACCENTURE IT SUPPORT.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4937760"/>
            <a:ext cx="2880360" cy="384048"/>
          </a:xfrm>
          <a:prstGeom prst="roundRect">
            <a:avLst>
              <a:gd name="adj" fmla="val 25000"/>
            </a:avLst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82312" y="4983480"/>
            <a:ext cx="27340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Higher consistency and faster response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1417320"/>
            <a:ext cx="3474720" cy="4069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75320" y="1417320"/>
            <a:ext cx="3474720" cy="16459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39912" y="1664208"/>
            <a:ext cx="512064" cy="512064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39912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ORG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704" y="1691640"/>
            <a:ext cx="24688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E1E2F"/>
                </a:solidFill>
                <a:latin typeface="Aptos"/>
              </a:rPr>
              <a:t>Organizational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240280"/>
            <a:ext cx="2834640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Real-Time Support Team Notifications.</a:t>
            </a:r>
          </a:p>
          <a:p>
            <a:r>
              <a:t>Event-driven notification on incident creation.</a:t>
            </a:r>
          </a:p>
          <a:p>
            <a:r>
              <a:t>Reduced manual assignment overhead — agents now focus on resolution.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49640" y="4937760"/>
            <a:ext cx="2880360" cy="384048"/>
          </a:xfrm>
          <a:prstGeom prst="roundRect">
            <a:avLst>
              <a:gd name="adj" fmla="val 25000"/>
            </a:avLst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22792" y="4983480"/>
            <a:ext cx="27340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Higher consistency and faster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806440"/>
            <a:ext cx="25603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1E2F"/>
                </a:solidFill>
                <a:latin typeface="Aptos"/>
              </a:rPr>
              <a:t>Value Chain Summary</a:t>
            </a:r>
          </a:p>
        </p:txBody>
      </p:sp>
      <p:sp>
        <p:nvSpPr>
          <p:cNvPr id="30" name="Oval 29"/>
          <p:cNvSpPr/>
          <p:nvPr/>
        </p:nvSpPr>
        <p:spPr>
          <a:xfrm>
            <a:off x="2651760" y="5724144"/>
            <a:ext cx="329184" cy="329184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517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358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>
                <a:solidFill>
                  <a:srgbClr val="5C6170"/>
                </a:solidFill>
                <a:latin typeface="Aptos"/>
              </a:rPr>
              <a:t>Guided issue intake</a:t>
            </a:r>
          </a:p>
        </p:txBody>
      </p:sp>
      <p:sp>
        <p:nvSpPr>
          <p:cNvPr id="33" name="Oval 32"/>
          <p:cNvSpPr/>
          <p:nvPr/>
        </p:nvSpPr>
        <p:spPr>
          <a:xfrm>
            <a:off x="4480560" y="5724144"/>
            <a:ext cx="329184" cy="32918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805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46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>
                <a:solidFill>
                  <a:srgbClr val="5C6170"/>
                </a:solidFill>
                <a:latin typeface="Aptos"/>
              </a:rPr>
              <a:t>Immediate self-service</a:t>
            </a:r>
          </a:p>
        </p:txBody>
      </p:sp>
      <p:sp>
        <p:nvSpPr>
          <p:cNvPr id="36" name="Oval 35"/>
          <p:cNvSpPr/>
          <p:nvPr/>
        </p:nvSpPr>
        <p:spPr>
          <a:xfrm>
            <a:off x="6309360" y="5724144"/>
            <a:ext cx="329184" cy="329184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>
                <a:solidFill>
                  <a:srgbClr val="5C6170"/>
                </a:solidFill>
                <a:latin typeface="Aptos"/>
              </a:rPr>
              <a:t>Governed escalation</a:t>
            </a:r>
          </a:p>
        </p:txBody>
      </p:sp>
      <p:sp>
        <p:nvSpPr>
          <p:cNvPr id="39" name="Oval 38"/>
          <p:cNvSpPr/>
          <p:nvPr/>
        </p:nvSpPr>
        <p:spPr>
          <a:xfrm>
            <a:off x="8138160" y="5724144"/>
            <a:ext cx="329184" cy="32918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381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222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>
                <a:solidFill>
                  <a:srgbClr val="5C6170"/>
                </a:solidFill>
                <a:latin typeface="Aptos"/>
              </a:rPr>
              <a:t>Ticket visibility</a:t>
            </a:r>
          </a:p>
        </p:txBody>
      </p:sp>
      <p:sp>
        <p:nvSpPr>
          <p:cNvPr id="42" name="Oval 41"/>
          <p:cNvSpPr/>
          <p:nvPr/>
        </p:nvSpPr>
        <p:spPr>
          <a:xfrm>
            <a:off x="9966960" y="5724144"/>
            <a:ext cx="329184" cy="329184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9669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510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>
                <a:solidFill>
                  <a:srgbClr val="5C6170"/>
                </a:solidFill>
                <a:latin typeface="Aptos"/>
              </a:rPr>
              <a:t>Improved service experience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28600" y="6556248"/>
            <a:ext cx="117500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Employee experience  |  Helpdesk efficiency  |  Scalable service operations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Karteek Tadimalla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1E1E2F"/>
                </a:solidFill>
                <a:latin typeface="Aptos"/>
              </a:rPr>
              <a:t>Representative Use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Live Demo Scenario: VPN Troubleshooting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45720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1663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6968" y="1664208"/>
            <a:ext cx="512064" cy="512064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27632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Initiate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65960"/>
            <a:ext cx="406908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Ananya opens the Employee Portal and starts a chat with the Virtual Agent.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2816352"/>
            <a:ext cx="2011680" cy="384048"/>
          </a:xfrm>
          <a:prstGeom prst="roundRect">
            <a:avLst>
              <a:gd name="adj" fmla="val 25000"/>
            </a:avLst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81912" y="2862072"/>
            <a:ext cx="18653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Self-service → Escalation if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1663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64808" y="1664208"/>
            <a:ext cx="512064" cy="51206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8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627632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AI Assistance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965960"/>
            <a:ext cx="406908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Now Assist understands intent and surfaces the top 3 VPN troubleshooting KB articles.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816352"/>
            <a:ext cx="2011680" cy="384048"/>
          </a:xfrm>
          <a:prstGeom prst="roundRect">
            <a:avLst>
              <a:gd name="adj" fmla="val 25000"/>
            </a:avLst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59752" y="2862072"/>
            <a:ext cx="18653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Self-service → Escalation if needed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03320"/>
            <a:ext cx="51663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6968" y="3904488"/>
            <a:ext cx="512064" cy="512064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93192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867912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Incident Creation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206240"/>
            <a:ext cx="406908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Issue not resolved — Custom AI Agent creates incident via 'Create Incident - Accenture Support'.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8760" y="5056632"/>
            <a:ext cx="2011680" cy="384048"/>
          </a:xfrm>
          <a:prstGeom prst="roundRect">
            <a:avLst>
              <a:gd name="adj" fmla="val 25000"/>
            </a:avLst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81912" y="5102352"/>
            <a:ext cx="18653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Self-service → Escalation if needed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703320"/>
            <a:ext cx="51663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64808" y="3904488"/>
            <a:ext cx="512064" cy="512064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64808" y="393192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867912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Resolution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206240"/>
            <a:ext cx="406908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Ticket auto-assigned; Engineer resolves VPN issue; Ananya receives automated closure notification.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86600" y="5056632"/>
            <a:ext cx="2011680" cy="384048"/>
          </a:xfrm>
          <a:prstGeom prst="roundRect">
            <a:avLst>
              <a:gd name="adj" fmla="val 25000"/>
            </a:avLst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59752" y="5102352"/>
            <a:ext cx="18653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Self-service → Escalation if needed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92040" y="5715000"/>
            <a:ext cx="242316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10912" y="5843016"/>
            <a:ext cx="2194560" cy="1463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0">
                <a:solidFill>
                  <a:srgbClr val="5C6170"/>
                </a:solidFill>
                <a:latin typeface="Aptos"/>
              </a:rPr>
              <a:t>All scenarios keep the user in one guided conversational flow.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28600" y="6556248"/>
            <a:ext cx="117500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Single point of contact  |  Common issues first  |  Seamless support escalation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Karteek Tadimalla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1E1E2F"/>
                </a:solidFill>
                <a:latin typeface="Aptos"/>
              </a:rPr>
              <a:t>Challenges, Limitations &amp;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45720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81328"/>
            <a:ext cx="3401568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737360"/>
            <a:ext cx="512064" cy="512064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83080"/>
            <a:ext cx="22860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Phase 2: Expanded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04288"/>
            <a:ext cx="278892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Broaden knowledge base coverage; enable multi-turn diagnostic conversations for complex IT issues.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" y="5413248"/>
            <a:ext cx="2697480" cy="384048"/>
          </a:xfrm>
          <a:prstGeom prst="roundRect">
            <a:avLst>
              <a:gd name="adj" fmla="val 25000"/>
            </a:avLst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4984" y="5458968"/>
            <a:ext cx="25511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Design for iteration and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1481328"/>
            <a:ext cx="3401568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90872" y="1737360"/>
            <a:ext cx="512064" cy="51206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2" y="1764792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2" y="1783080"/>
            <a:ext cx="22860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Phase 3: HR &amp; Facilities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4" y="2304288"/>
            <a:ext cx="278892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Extend Virtual Agent beyond IT to HR and Facilities use cases — all on the same ServiceNow platform.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64024" y="5413248"/>
            <a:ext cx="2697480" cy="384048"/>
          </a:xfrm>
          <a:prstGeom prst="roundRect">
            <a:avLst>
              <a:gd name="adj" fmla="val 25000"/>
            </a:avLst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37176" y="5458968"/>
            <a:ext cx="25511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Design for iteration and scale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0183" y="1481328"/>
            <a:ext cx="3401568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13063" y="1737360"/>
            <a:ext cx="512064" cy="512064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13063" y="1764792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3" y="1783080"/>
            <a:ext cx="22860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Phase 4: Agentic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6215" y="2304288"/>
            <a:ext cx="278892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Autonomous Tier 1 incident resolution with no human intervention, leveraging ServiceNow's evolving AI agent capabilities.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86215" y="5413248"/>
            <a:ext cx="2697480" cy="384048"/>
          </a:xfrm>
          <a:prstGeom prst="roundRect">
            <a:avLst>
              <a:gd name="adj" fmla="val 25000"/>
            </a:avLst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59367" y="5458968"/>
            <a:ext cx="25511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Design for iteration and scale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8600" y="6556248"/>
            <a:ext cx="117500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Build iteratively  |  Improve knowledge quality  |  Expand reach over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Karteek Tadimalla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1E1E2F"/>
                </a:solidFill>
                <a:latin typeface="Aptos"/>
              </a:rPr>
              <a:t>Testing &amp; Execution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5C6170"/>
                </a:solidFill>
                <a:latin typeface="Aptos"/>
              </a:rPr>
              <a:t>Validation of the end-to-end conversation and incident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45720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20116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E1E2F"/>
                </a:solidFill>
                <a:latin typeface="Aptos"/>
              </a:rPr>
              <a:t>Preconditions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3317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40">
                <a:solidFill>
                  <a:srgbClr val="5C6170"/>
                </a:solidFill>
                <a:latin typeface="Aptos"/>
              </a:rPr>
              <a:t>User is logged into the ServiceNow portal.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40">
                <a:solidFill>
                  <a:srgbClr val="5C6170"/>
                </a:solidFill>
                <a:latin typeface="Aptos"/>
              </a:rPr>
              <a:t>Virtual Agent is enabled and available.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28016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87968" y="1481328"/>
            <a:ext cx="21031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E1E2F"/>
                </a:solidFill>
                <a:latin typeface="Aptos"/>
              </a:rPr>
              <a:t>Success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7968" y="1783080"/>
            <a:ext cx="23317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40">
                <a:solidFill>
                  <a:srgbClr val="5C6170"/>
                </a:solidFill>
                <a:latin typeface="Aptos"/>
              </a:rPr>
              <a:t>The complete flow executes successfully.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40">
                <a:solidFill>
                  <a:srgbClr val="5C6170"/>
                </a:solidFill>
                <a:latin typeface="Aptos"/>
              </a:rPr>
              <a:t>Incident is traceable in the incident 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502920" cy="475488"/>
          </a:xfrm>
          <a:prstGeom prst="rect">
            <a:avLst/>
          </a:prstGeom>
          <a:solidFill>
            <a:srgbClr val="5F249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587752"/>
            <a:ext cx="448056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2514600"/>
            <a:ext cx="3154680" cy="475488"/>
          </a:xfrm>
          <a:prstGeom prst="rect">
            <a:avLst/>
          </a:prstGeom>
          <a:solidFill>
            <a:srgbClr val="5F249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16152" y="2587752"/>
            <a:ext cx="3099816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Step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514600"/>
            <a:ext cx="2423160" cy="475488"/>
          </a:xfrm>
          <a:prstGeom prst="rect">
            <a:avLst/>
          </a:prstGeom>
          <a:solidFill>
            <a:srgbClr val="5F249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70832" y="2587752"/>
            <a:ext cx="2368296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514600"/>
            <a:ext cx="5394960" cy="475488"/>
          </a:xfrm>
          <a:prstGeom prst="rect">
            <a:avLst/>
          </a:prstGeom>
          <a:solidFill>
            <a:srgbClr val="5F249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93992" y="2587752"/>
            <a:ext cx="5340096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990088"/>
            <a:ext cx="502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063240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0">
                <a:solidFill>
                  <a:srgbClr val="1E1E2F"/>
                </a:solidFill>
                <a:latin typeface="Aptos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2990088"/>
            <a:ext cx="3154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34440" y="3063240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1E1E2F"/>
                </a:solidFill>
                <a:latin typeface="Aptos"/>
              </a:rPr>
              <a:t>Access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2990088"/>
            <a:ext cx="2423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3063240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Login as employee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2990088"/>
            <a:ext cx="5394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12280" y="3063240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User authenticated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465576"/>
            <a:ext cx="50292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3538728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0">
                <a:solidFill>
                  <a:srgbClr val="1E1E2F"/>
                </a:solidFill>
                <a:latin typeface="Aptos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88720" y="3465576"/>
            <a:ext cx="315468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34440" y="3538728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1E1E2F"/>
                </a:solidFill>
                <a:latin typeface="Aptos"/>
              </a:rPr>
              <a:t>Launch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465576"/>
            <a:ext cx="242316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0" y="3538728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Open Virtual Agent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3465576"/>
            <a:ext cx="539496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12280" y="3538728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Chat window launches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3941064"/>
            <a:ext cx="502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014216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0">
                <a:solidFill>
                  <a:srgbClr val="1E1E2F"/>
                </a:solidFill>
                <a:latin typeface="Aptos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88720" y="3941064"/>
            <a:ext cx="3154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34440" y="4014216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1E1E2F"/>
                </a:solidFill>
                <a:latin typeface="Aptos"/>
              </a:rPr>
              <a:t>Describe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941064"/>
            <a:ext cx="2423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89120" y="4014216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Enter issue description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3941064"/>
            <a:ext cx="5394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12280" y="4014216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Intent recognized or routed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4416552"/>
            <a:ext cx="50292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" y="4489704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0">
                <a:solidFill>
                  <a:srgbClr val="1E1E2F"/>
                </a:solidFill>
                <a:latin typeface="Aptos"/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" y="4416552"/>
            <a:ext cx="315468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234440" y="4489704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1E1E2F"/>
                </a:solidFill>
                <a:latin typeface="Aptos"/>
              </a:rPr>
              <a:t>Self-service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4416552"/>
            <a:ext cx="242316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89120" y="4489704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View KB suggestions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66560" y="4416552"/>
            <a:ext cx="539496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812280" y="4489704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Relevant articles displayed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" y="4892040"/>
            <a:ext cx="502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1520" y="4965192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0">
                <a:solidFill>
                  <a:srgbClr val="1E1E2F"/>
                </a:solidFill>
                <a:latin typeface="Aptos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88720" y="4892040"/>
            <a:ext cx="3154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234440" y="4965192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1E1E2F"/>
                </a:solidFill>
                <a:latin typeface="Aptos"/>
              </a:rPr>
              <a:t>Decision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43400" y="4892040"/>
            <a:ext cx="2423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89120" y="4965192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Select unable to resolve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66560" y="4892040"/>
            <a:ext cx="5394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812280" y="4965192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Incident workflow triggered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5800" y="5367528"/>
            <a:ext cx="50292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1520" y="5440680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0">
                <a:solidFill>
                  <a:srgbClr val="1E1E2F"/>
                </a:solidFill>
                <a:latin typeface="Aptos"/>
              </a:rPr>
              <a:t>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88720" y="5367528"/>
            <a:ext cx="315468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234440" y="5440680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1E1E2F"/>
                </a:solidFill>
                <a:latin typeface="Aptos"/>
              </a:rPr>
              <a:t>Create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43400" y="5367528"/>
            <a:ext cx="242316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389120" y="5440680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Incident generated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66560" y="5367528"/>
            <a:ext cx="539496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812280" y="5440680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Incident number created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5800" y="5843016"/>
            <a:ext cx="502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31520" y="5916168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0">
                <a:solidFill>
                  <a:srgbClr val="1E1E2F"/>
                </a:solidFill>
                <a:latin typeface="Aptos"/>
              </a:rPr>
              <a:t>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88720" y="5843016"/>
            <a:ext cx="3154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234440" y="5916168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1E1E2F"/>
                </a:solidFill>
                <a:latin typeface="Aptos"/>
              </a:rPr>
              <a:t>Notify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43400" y="5843016"/>
            <a:ext cx="2423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389120" y="5916168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Notification sent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66560" y="5843016"/>
            <a:ext cx="5394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812280" y="5916168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User receives confirmation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85800" y="6318504"/>
            <a:ext cx="50292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31520" y="6391656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0">
                <a:solidFill>
                  <a:srgbClr val="1E1E2F"/>
                </a:solidFill>
                <a:latin typeface="Aptos"/>
              </a:rPr>
              <a:t>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88720" y="6318504"/>
            <a:ext cx="315468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234440" y="6391656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1E1E2F"/>
                </a:solidFill>
                <a:latin typeface="Aptos"/>
              </a:rPr>
              <a:t>Verify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43400" y="6318504"/>
            <a:ext cx="242316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389120" y="6391656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Check incident record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766560" y="6318504"/>
            <a:ext cx="539496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812280" y="6391656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Incident visible in Incident Table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85800" y="6355080"/>
            <a:ext cx="10789920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22960" y="6428232"/>
            <a:ext cx="10469880" cy="1097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5C6170"/>
                </a:solidFill>
                <a:latin typeface="Aptos"/>
              </a:rPr>
              <a:t>Execution focus: validate user journey, KB display, incident creation, assignment visibility, and confirmation messaging in one integrated test.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0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Karteek Tadimalla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286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Final Achievements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828800"/>
            <a:ext cx="2377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Built with purpose. Delivered with precision. Powered by ServiceNow Zurich x Accenture.</a:t>
            </a:r>
          </a:p>
        </p:txBody>
      </p:sp>
      <p:sp>
        <p:nvSpPr>
          <p:cNvPr id="5" name="Oval 4"/>
          <p:cNvSpPr/>
          <p:nvPr/>
        </p:nvSpPr>
        <p:spPr>
          <a:xfrm>
            <a:off x="2331720" y="347472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86584" y="393192"/>
            <a:ext cx="329184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5F249F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74519"/>
            <a:ext cx="2286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7CDF0"/>
                </a:solidFill>
                <a:latin typeface="Aptos"/>
              </a:rPr>
              <a:t>IMPLEMENTED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2240280"/>
            <a:ext cx="310896" cy="310896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267712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58568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>
                <a:solidFill>
                  <a:srgbClr val="FFFFFF"/>
                </a:solidFill>
                <a:latin typeface="Aptos"/>
              </a:rPr>
              <a:t>Virtual Agent conversation flow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807208"/>
            <a:ext cx="310896" cy="310896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2834640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825496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>
                <a:solidFill>
                  <a:srgbClr val="FFFFFF"/>
                </a:solidFill>
                <a:latin typeface="Aptos"/>
              </a:rPr>
              <a:t>Knowledge Base integration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374136"/>
            <a:ext cx="310896" cy="310896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401568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392424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>
                <a:solidFill>
                  <a:srgbClr val="FFFFFF"/>
                </a:solidFill>
                <a:latin typeface="Aptos"/>
              </a:rPr>
              <a:t>Automated incident creation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3941064"/>
            <a:ext cx="310896" cy="310896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968496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959352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>
                <a:solidFill>
                  <a:srgbClr val="FFFFFF"/>
                </a:solidFill>
                <a:latin typeface="Aptos"/>
              </a:rPr>
              <a:t>Assignment workflow</a:t>
            </a:r>
          </a:p>
        </p:txBody>
      </p:sp>
      <p:sp>
        <p:nvSpPr>
          <p:cNvPr id="20" name="Oval 19"/>
          <p:cNvSpPr/>
          <p:nvPr/>
        </p:nvSpPr>
        <p:spPr>
          <a:xfrm>
            <a:off x="411480" y="4507992"/>
            <a:ext cx="310896" cy="310896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4535424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526280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>
                <a:solidFill>
                  <a:srgbClr val="FFFFFF"/>
                </a:solidFill>
                <a:latin typeface="Aptos"/>
              </a:rPr>
              <a:t>Notification mechanism</a:t>
            </a:r>
          </a:p>
        </p:txBody>
      </p:sp>
      <p:sp>
        <p:nvSpPr>
          <p:cNvPr id="23" name="Oval 22"/>
          <p:cNvSpPr/>
          <p:nvPr/>
        </p:nvSpPr>
        <p:spPr>
          <a:xfrm>
            <a:off x="411480" y="5074920"/>
            <a:ext cx="310896" cy="310896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5102352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5093208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>
                <a:solidFill>
                  <a:srgbClr val="FFFFFF"/>
                </a:solidFill>
                <a:latin typeface="Aptos"/>
              </a:rPr>
              <a:t>End-to-end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50292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1E1E2F"/>
                </a:solidFill>
                <a:latin typeface="Aptos"/>
              </a:rPr>
              <a:t>Demo Outcome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987552"/>
            <a:ext cx="370332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593592" y="1152144"/>
            <a:ext cx="457200" cy="457200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93592" y="1179576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78808" y="1133856"/>
            <a:ext cx="2788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E1E2F"/>
                </a:solidFill>
                <a:latin typeface="Aptos"/>
              </a:rPr>
              <a:t>What the Demo Showed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78808" y="1517904"/>
            <a:ext cx="2788920" cy="11521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5C6170"/>
                </a:solidFill>
                <a:latin typeface="Aptos"/>
              </a:rPr>
              <a:t>User issue captured successfully in the chat interface.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5C6170"/>
                </a:solidFill>
                <a:latin typeface="Aptos"/>
              </a:rPr>
              <a:t>Relevant knowledge content displayed for self-service troubleshooting.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5C6170"/>
                </a:solidFill>
                <a:latin typeface="Aptos"/>
              </a:rPr>
              <a:t>Incident was created automatically when the issue remained unresolved.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5C6170"/>
                </a:solidFill>
                <a:latin typeface="Aptos"/>
              </a:rPr>
              <a:t>User received a confirmation with the ticket reference.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6912" y="987552"/>
            <a:ext cx="3977639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461504" y="1152144"/>
            <a:ext cx="457200" cy="457200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61504" y="1179576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1133856"/>
            <a:ext cx="30632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E1E2F"/>
                </a:solidFill>
                <a:latin typeface="Aptos"/>
              </a:rPr>
              <a:t>Operational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1517904"/>
            <a:ext cx="3063239" cy="11521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5C6170"/>
                </a:solidFill>
                <a:latin typeface="Aptos"/>
              </a:rPr>
              <a:t>Support workflow continued after automated incident creation.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5C6170"/>
                </a:solidFill>
                <a:latin typeface="Aptos"/>
              </a:rPr>
              <a:t>Assignment path provided a clear ownership route for follow-up.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5C6170"/>
                </a:solidFill>
                <a:latin typeface="Aptos"/>
              </a:rPr>
              <a:t>The solution reduced manual support effort in the intake stage.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5C6170"/>
                </a:solidFill>
                <a:latin typeface="Aptos"/>
              </a:rPr>
              <a:t>The overall experience remained simple from the user perspective.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29000" y="3063240"/>
            <a:ext cx="7882127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39312" y="3310128"/>
            <a:ext cx="73152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E1E2F"/>
                </a:solidFill>
                <a:latin typeface="Aptos"/>
              </a:rPr>
              <a:t>Key Achievement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9312" y="3611880"/>
            <a:ext cx="72694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Demonstrated 100% Standardized Incident Creation and Zero Manual Triage Required using Now Assist on ServiceNow Zurich.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29000" y="4315968"/>
            <a:ext cx="7882127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593592" y="4480560"/>
            <a:ext cx="457200" cy="45720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593592" y="45079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78808" y="4462272"/>
            <a:ext cx="696772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E1E2F"/>
                </a:solidFill>
                <a:latin typeface="Aptos"/>
              </a:rPr>
              <a:t>Why It Matters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78808" y="4846320"/>
            <a:ext cx="6967727" cy="8961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5C6170"/>
                </a:solidFill>
                <a:latin typeface="Aptos"/>
              </a:rPr>
              <a:t>Demonstrates a practical automation use case on the ServiceNow platform.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5C6170"/>
                </a:solidFill>
                <a:latin typeface="Aptos"/>
              </a:rPr>
              <a:t>Shows how self-service and incident governance can coexist in one journey.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5C6170"/>
                </a:solidFill>
                <a:latin typeface="Aptos"/>
              </a:rPr>
              <a:t>Creates a foundation for future AI, search, and multi-channel expansion.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29000" y="6199632"/>
            <a:ext cx="7882127" cy="320040"/>
          </a:xfrm>
          <a:prstGeom prst="roundRect">
            <a:avLst>
              <a:gd name="adj" fmla="val 16000"/>
            </a:avLst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547872" y="6245352"/>
            <a:ext cx="7635240" cy="1554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Reference-inspired layout used with shapes and icons only — no AI-generated images included.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Karteek Tadimalla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Tadimalla, Karteek</dc:creator>
  <cp:keywords/>
  <dc:description>generated using python-pptx</dc:description>
  <cp:lastModifiedBy>Tadimalla, Karteek</cp:lastModifiedBy>
  <cp:revision>10</cp:revision>
  <dcterms:created xsi:type="dcterms:W3CDTF">2026-07-03T06:18:25Z</dcterms:created>
  <dcterms:modified xsi:type="dcterms:W3CDTF">2026-07-03T07:00:01Z</dcterms:modified>
  <cp:category/>
</cp:coreProperties>
</file>